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65" r:id="rId2"/>
    <p:sldId id="266" r:id="rId3"/>
    <p:sldId id="258" r:id="rId4"/>
    <p:sldId id="260" r:id="rId5"/>
    <p:sldId id="261" r:id="rId6"/>
    <p:sldId id="262" r:id="rId7"/>
    <p:sldId id="263" r:id="rId8"/>
    <p:sldId id="267"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E419F8-4506-46EA-B6DB-04ABCB702A70}" type="datetimeFigureOut">
              <a:rPr lang="en-CA" smtClean="0"/>
              <a:t>2026-08-05</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EB1B32-220C-45D3-8BA9-933D1507AB0E}" type="slidenum">
              <a:rPr lang="en-CA" smtClean="0"/>
              <a:t>‹#›</a:t>
            </a:fld>
            <a:endParaRPr lang="en-CA"/>
          </a:p>
        </p:txBody>
      </p:sp>
    </p:spTree>
    <p:extLst>
      <p:ext uri="{BB962C8B-B14F-4D97-AF65-F5344CB8AC3E}">
        <p14:creationId xmlns:p14="http://schemas.microsoft.com/office/powerpoint/2010/main" val="427563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0F3BC763-36EC-4511-8562-2271B5420D4F}" type="slidenum">
              <a:rPr lang="en-CA" smtClean="0"/>
              <a:t>1</a:t>
            </a:fld>
            <a:endParaRPr lang="en-CA"/>
          </a:p>
        </p:txBody>
      </p:sp>
    </p:spTree>
    <p:extLst>
      <p:ext uri="{BB962C8B-B14F-4D97-AF65-F5344CB8AC3E}">
        <p14:creationId xmlns:p14="http://schemas.microsoft.com/office/powerpoint/2010/main" val="23864623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0F3BC763-36EC-4511-8562-2271B5420D4F}" type="slidenum">
              <a:rPr lang="en-CA" smtClean="0"/>
              <a:t>3</a:t>
            </a:fld>
            <a:endParaRPr lang="en-CA"/>
          </a:p>
        </p:txBody>
      </p:sp>
    </p:spTree>
    <p:extLst>
      <p:ext uri="{BB962C8B-B14F-4D97-AF65-F5344CB8AC3E}">
        <p14:creationId xmlns:p14="http://schemas.microsoft.com/office/powerpoint/2010/main" val="30932652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0F3BC763-36EC-4511-8562-2271B5420D4F}" type="slidenum">
              <a:rPr lang="en-CA" smtClean="0"/>
              <a:t>4</a:t>
            </a:fld>
            <a:endParaRPr lang="en-CA"/>
          </a:p>
        </p:txBody>
      </p:sp>
    </p:spTree>
    <p:extLst>
      <p:ext uri="{BB962C8B-B14F-4D97-AF65-F5344CB8AC3E}">
        <p14:creationId xmlns:p14="http://schemas.microsoft.com/office/powerpoint/2010/main" val="2248414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0F3BC763-36EC-4511-8562-2271B5420D4F}" type="slidenum">
              <a:rPr lang="en-CA" smtClean="0"/>
              <a:t>8</a:t>
            </a:fld>
            <a:endParaRPr lang="en-CA"/>
          </a:p>
        </p:txBody>
      </p:sp>
    </p:spTree>
    <p:extLst>
      <p:ext uri="{BB962C8B-B14F-4D97-AF65-F5344CB8AC3E}">
        <p14:creationId xmlns:p14="http://schemas.microsoft.com/office/powerpoint/2010/main" val="31580468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4F837-94A9-2704-0A9A-75CE1E1566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2C392A5F-7C6B-682B-D5C3-7383DC58B7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7E4CF012-65C4-8E59-D406-9A446818226E}"/>
              </a:ext>
            </a:extLst>
          </p:cNvPr>
          <p:cNvSpPr>
            <a:spLocks noGrp="1"/>
          </p:cNvSpPr>
          <p:nvPr>
            <p:ph type="dt" sz="half" idx="10"/>
          </p:nvPr>
        </p:nvSpPr>
        <p:spPr/>
        <p:txBody>
          <a:bodyPr/>
          <a:lstStyle/>
          <a:p>
            <a:fld id="{C27D4026-A294-4EE7-9F82-A791C95D063F}" type="datetimeFigureOut">
              <a:rPr lang="en-CA" smtClean="0"/>
              <a:t>2026-08-05</a:t>
            </a:fld>
            <a:endParaRPr lang="en-CA"/>
          </a:p>
        </p:txBody>
      </p:sp>
      <p:sp>
        <p:nvSpPr>
          <p:cNvPr id="5" name="Footer Placeholder 4">
            <a:extLst>
              <a:ext uri="{FF2B5EF4-FFF2-40B4-BE49-F238E27FC236}">
                <a16:creationId xmlns:a16="http://schemas.microsoft.com/office/drawing/2014/main" id="{781221F4-EAFF-FC1D-0CBD-7E604AE3BE4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FA3891F-F5EB-F93D-0A7B-444C30E84414}"/>
              </a:ext>
            </a:extLst>
          </p:cNvPr>
          <p:cNvSpPr>
            <a:spLocks noGrp="1"/>
          </p:cNvSpPr>
          <p:nvPr>
            <p:ph type="sldNum" sz="quarter" idx="12"/>
          </p:nvPr>
        </p:nvSpPr>
        <p:spPr/>
        <p:txBody>
          <a:bodyPr/>
          <a:lstStyle/>
          <a:p>
            <a:fld id="{622FF674-45F6-47FE-9482-286835A4ADB5}" type="slidenum">
              <a:rPr lang="en-CA" smtClean="0"/>
              <a:t>‹#›</a:t>
            </a:fld>
            <a:endParaRPr lang="en-CA"/>
          </a:p>
        </p:txBody>
      </p:sp>
    </p:spTree>
    <p:extLst>
      <p:ext uri="{BB962C8B-B14F-4D97-AF65-F5344CB8AC3E}">
        <p14:creationId xmlns:p14="http://schemas.microsoft.com/office/powerpoint/2010/main" val="2660522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E8CE4-0732-469B-1043-4CAD8C31A993}"/>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D1607F54-8514-379D-7F21-470D29A98B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3BFFE02-48BE-C3F4-E90F-AA2E5C2AD169}"/>
              </a:ext>
            </a:extLst>
          </p:cNvPr>
          <p:cNvSpPr>
            <a:spLocks noGrp="1"/>
          </p:cNvSpPr>
          <p:nvPr>
            <p:ph type="dt" sz="half" idx="10"/>
          </p:nvPr>
        </p:nvSpPr>
        <p:spPr/>
        <p:txBody>
          <a:bodyPr/>
          <a:lstStyle/>
          <a:p>
            <a:fld id="{C27D4026-A294-4EE7-9F82-A791C95D063F}" type="datetimeFigureOut">
              <a:rPr lang="en-CA" smtClean="0"/>
              <a:t>2026-08-05</a:t>
            </a:fld>
            <a:endParaRPr lang="en-CA"/>
          </a:p>
        </p:txBody>
      </p:sp>
      <p:sp>
        <p:nvSpPr>
          <p:cNvPr id="5" name="Footer Placeholder 4">
            <a:extLst>
              <a:ext uri="{FF2B5EF4-FFF2-40B4-BE49-F238E27FC236}">
                <a16:creationId xmlns:a16="http://schemas.microsoft.com/office/drawing/2014/main" id="{4931422E-6DC9-AC60-D92C-BA3EEF2BE47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C6AAEED-4F91-6904-7E07-ACD2958DF98A}"/>
              </a:ext>
            </a:extLst>
          </p:cNvPr>
          <p:cNvSpPr>
            <a:spLocks noGrp="1"/>
          </p:cNvSpPr>
          <p:nvPr>
            <p:ph type="sldNum" sz="quarter" idx="12"/>
          </p:nvPr>
        </p:nvSpPr>
        <p:spPr/>
        <p:txBody>
          <a:bodyPr/>
          <a:lstStyle/>
          <a:p>
            <a:fld id="{622FF674-45F6-47FE-9482-286835A4ADB5}" type="slidenum">
              <a:rPr lang="en-CA" smtClean="0"/>
              <a:t>‹#›</a:t>
            </a:fld>
            <a:endParaRPr lang="en-CA"/>
          </a:p>
        </p:txBody>
      </p:sp>
    </p:spTree>
    <p:extLst>
      <p:ext uri="{BB962C8B-B14F-4D97-AF65-F5344CB8AC3E}">
        <p14:creationId xmlns:p14="http://schemas.microsoft.com/office/powerpoint/2010/main" val="5489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747D0-2436-6A06-2C04-E05E07FF360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ED0CAA9F-10DB-30ED-04A1-1E6DD503E4C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B5D285-F858-B567-F060-2DB174C9E284}"/>
              </a:ext>
            </a:extLst>
          </p:cNvPr>
          <p:cNvSpPr>
            <a:spLocks noGrp="1"/>
          </p:cNvSpPr>
          <p:nvPr>
            <p:ph type="dt" sz="half" idx="10"/>
          </p:nvPr>
        </p:nvSpPr>
        <p:spPr/>
        <p:txBody>
          <a:bodyPr/>
          <a:lstStyle/>
          <a:p>
            <a:fld id="{C27D4026-A294-4EE7-9F82-A791C95D063F}" type="datetimeFigureOut">
              <a:rPr lang="en-CA" smtClean="0"/>
              <a:t>2026-08-05</a:t>
            </a:fld>
            <a:endParaRPr lang="en-CA"/>
          </a:p>
        </p:txBody>
      </p:sp>
      <p:sp>
        <p:nvSpPr>
          <p:cNvPr id="5" name="Footer Placeholder 4">
            <a:extLst>
              <a:ext uri="{FF2B5EF4-FFF2-40B4-BE49-F238E27FC236}">
                <a16:creationId xmlns:a16="http://schemas.microsoft.com/office/drawing/2014/main" id="{F530A7D1-BE22-531B-D892-AFD77B28255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70051F7-1D92-BC3F-95AF-F9401B532924}"/>
              </a:ext>
            </a:extLst>
          </p:cNvPr>
          <p:cNvSpPr>
            <a:spLocks noGrp="1"/>
          </p:cNvSpPr>
          <p:nvPr>
            <p:ph type="sldNum" sz="quarter" idx="12"/>
          </p:nvPr>
        </p:nvSpPr>
        <p:spPr/>
        <p:txBody>
          <a:bodyPr/>
          <a:lstStyle/>
          <a:p>
            <a:fld id="{622FF674-45F6-47FE-9482-286835A4ADB5}" type="slidenum">
              <a:rPr lang="en-CA" smtClean="0"/>
              <a:t>‹#›</a:t>
            </a:fld>
            <a:endParaRPr lang="en-CA"/>
          </a:p>
        </p:txBody>
      </p:sp>
    </p:spTree>
    <p:extLst>
      <p:ext uri="{BB962C8B-B14F-4D97-AF65-F5344CB8AC3E}">
        <p14:creationId xmlns:p14="http://schemas.microsoft.com/office/powerpoint/2010/main" val="1384630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EEB6F-E39F-E40E-F0D8-DD97B8B0697E}"/>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6784A21A-8DDF-933A-024B-1D3908B75B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0FE3B95C-9477-5BDE-1012-92470F910F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FBF03608-9AB0-5E55-E7BF-AEE1B441C91B}"/>
              </a:ext>
            </a:extLst>
          </p:cNvPr>
          <p:cNvSpPr>
            <a:spLocks noGrp="1"/>
          </p:cNvSpPr>
          <p:nvPr>
            <p:ph type="dt" sz="half" idx="10"/>
          </p:nvPr>
        </p:nvSpPr>
        <p:spPr/>
        <p:txBody>
          <a:bodyPr/>
          <a:lstStyle/>
          <a:p>
            <a:fld id="{C27D4026-A294-4EE7-9F82-A791C95D063F}" type="datetimeFigureOut">
              <a:rPr lang="en-CA" smtClean="0"/>
              <a:t>2026-08-05</a:t>
            </a:fld>
            <a:endParaRPr lang="en-CA"/>
          </a:p>
        </p:txBody>
      </p:sp>
      <p:sp>
        <p:nvSpPr>
          <p:cNvPr id="6" name="Footer Placeholder 5">
            <a:extLst>
              <a:ext uri="{FF2B5EF4-FFF2-40B4-BE49-F238E27FC236}">
                <a16:creationId xmlns:a16="http://schemas.microsoft.com/office/drawing/2014/main" id="{468DF1FC-4724-22C0-6894-ED0F882BCC75}"/>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030259DC-82BA-AA19-CF8A-914596A86554}"/>
              </a:ext>
            </a:extLst>
          </p:cNvPr>
          <p:cNvSpPr>
            <a:spLocks noGrp="1"/>
          </p:cNvSpPr>
          <p:nvPr>
            <p:ph type="sldNum" sz="quarter" idx="12"/>
          </p:nvPr>
        </p:nvSpPr>
        <p:spPr/>
        <p:txBody>
          <a:bodyPr/>
          <a:lstStyle/>
          <a:p>
            <a:fld id="{622FF674-45F6-47FE-9482-286835A4ADB5}" type="slidenum">
              <a:rPr lang="en-CA" smtClean="0"/>
              <a:t>‹#›</a:t>
            </a:fld>
            <a:endParaRPr lang="en-CA"/>
          </a:p>
        </p:txBody>
      </p:sp>
    </p:spTree>
    <p:extLst>
      <p:ext uri="{BB962C8B-B14F-4D97-AF65-F5344CB8AC3E}">
        <p14:creationId xmlns:p14="http://schemas.microsoft.com/office/powerpoint/2010/main" val="31637946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72C3C-B0DE-61CF-6118-5948DDC8479C}"/>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DB01950B-CB04-2973-1DA8-F8F8BFEB3E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7BEBB0-8816-6A1C-AC7C-BE8178D12B9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E8143141-36E0-67F9-A4D6-085BC39E61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0C49CB-70CB-50D1-155A-9088F97503D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83935E4E-7BBD-E090-56EF-8117BDE1CF29}"/>
              </a:ext>
            </a:extLst>
          </p:cNvPr>
          <p:cNvSpPr>
            <a:spLocks noGrp="1"/>
          </p:cNvSpPr>
          <p:nvPr>
            <p:ph type="dt" sz="half" idx="10"/>
          </p:nvPr>
        </p:nvSpPr>
        <p:spPr/>
        <p:txBody>
          <a:bodyPr/>
          <a:lstStyle/>
          <a:p>
            <a:fld id="{C27D4026-A294-4EE7-9F82-A791C95D063F}" type="datetimeFigureOut">
              <a:rPr lang="en-CA" smtClean="0"/>
              <a:t>2026-08-05</a:t>
            </a:fld>
            <a:endParaRPr lang="en-CA"/>
          </a:p>
        </p:txBody>
      </p:sp>
      <p:sp>
        <p:nvSpPr>
          <p:cNvPr id="8" name="Footer Placeholder 7">
            <a:extLst>
              <a:ext uri="{FF2B5EF4-FFF2-40B4-BE49-F238E27FC236}">
                <a16:creationId xmlns:a16="http://schemas.microsoft.com/office/drawing/2014/main" id="{FBA26B33-AE21-0894-66BF-600DFF0BC1BB}"/>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CDA1BBC3-9AF2-99E6-7CE1-AF95296BD1CE}"/>
              </a:ext>
            </a:extLst>
          </p:cNvPr>
          <p:cNvSpPr>
            <a:spLocks noGrp="1"/>
          </p:cNvSpPr>
          <p:nvPr>
            <p:ph type="sldNum" sz="quarter" idx="12"/>
          </p:nvPr>
        </p:nvSpPr>
        <p:spPr/>
        <p:txBody>
          <a:bodyPr/>
          <a:lstStyle/>
          <a:p>
            <a:fld id="{622FF674-45F6-47FE-9482-286835A4ADB5}" type="slidenum">
              <a:rPr lang="en-CA" smtClean="0"/>
              <a:t>‹#›</a:t>
            </a:fld>
            <a:endParaRPr lang="en-CA"/>
          </a:p>
        </p:txBody>
      </p:sp>
    </p:spTree>
    <p:extLst>
      <p:ext uri="{BB962C8B-B14F-4D97-AF65-F5344CB8AC3E}">
        <p14:creationId xmlns:p14="http://schemas.microsoft.com/office/powerpoint/2010/main" val="2951389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89E7D-3B95-EB5A-657A-78E13533EB7E}"/>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67C2B76D-B8A9-7DA5-0B60-52A4EA56C3C8}"/>
              </a:ext>
            </a:extLst>
          </p:cNvPr>
          <p:cNvSpPr>
            <a:spLocks noGrp="1"/>
          </p:cNvSpPr>
          <p:nvPr>
            <p:ph type="dt" sz="half" idx="10"/>
          </p:nvPr>
        </p:nvSpPr>
        <p:spPr/>
        <p:txBody>
          <a:bodyPr/>
          <a:lstStyle/>
          <a:p>
            <a:fld id="{C27D4026-A294-4EE7-9F82-A791C95D063F}" type="datetimeFigureOut">
              <a:rPr lang="en-CA" smtClean="0"/>
              <a:t>2026-08-05</a:t>
            </a:fld>
            <a:endParaRPr lang="en-CA"/>
          </a:p>
        </p:txBody>
      </p:sp>
      <p:sp>
        <p:nvSpPr>
          <p:cNvPr id="4" name="Footer Placeholder 3">
            <a:extLst>
              <a:ext uri="{FF2B5EF4-FFF2-40B4-BE49-F238E27FC236}">
                <a16:creationId xmlns:a16="http://schemas.microsoft.com/office/drawing/2014/main" id="{A94B7858-37A1-F7E1-780A-7799892DC671}"/>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12D48C54-0A82-4785-7440-1891BC70FBB2}"/>
              </a:ext>
            </a:extLst>
          </p:cNvPr>
          <p:cNvSpPr>
            <a:spLocks noGrp="1"/>
          </p:cNvSpPr>
          <p:nvPr>
            <p:ph type="sldNum" sz="quarter" idx="12"/>
          </p:nvPr>
        </p:nvSpPr>
        <p:spPr/>
        <p:txBody>
          <a:bodyPr/>
          <a:lstStyle/>
          <a:p>
            <a:fld id="{622FF674-45F6-47FE-9482-286835A4ADB5}" type="slidenum">
              <a:rPr lang="en-CA" smtClean="0"/>
              <a:t>‹#›</a:t>
            </a:fld>
            <a:endParaRPr lang="en-CA"/>
          </a:p>
        </p:txBody>
      </p:sp>
    </p:spTree>
    <p:extLst>
      <p:ext uri="{BB962C8B-B14F-4D97-AF65-F5344CB8AC3E}">
        <p14:creationId xmlns:p14="http://schemas.microsoft.com/office/powerpoint/2010/main" val="26252831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792F59-1074-030A-D92C-D96847CC391F}"/>
              </a:ext>
            </a:extLst>
          </p:cNvPr>
          <p:cNvSpPr>
            <a:spLocks noGrp="1"/>
          </p:cNvSpPr>
          <p:nvPr>
            <p:ph type="dt" sz="half" idx="10"/>
          </p:nvPr>
        </p:nvSpPr>
        <p:spPr/>
        <p:txBody>
          <a:bodyPr/>
          <a:lstStyle/>
          <a:p>
            <a:fld id="{C27D4026-A294-4EE7-9F82-A791C95D063F}" type="datetimeFigureOut">
              <a:rPr lang="en-CA" smtClean="0"/>
              <a:t>2026-08-05</a:t>
            </a:fld>
            <a:endParaRPr lang="en-CA"/>
          </a:p>
        </p:txBody>
      </p:sp>
      <p:sp>
        <p:nvSpPr>
          <p:cNvPr id="3" name="Footer Placeholder 2">
            <a:extLst>
              <a:ext uri="{FF2B5EF4-FFF2-40B4-BE49-F238E27FC236}">
                <a16:creationId xmlns:a16="http://schemas.microsoft.com/office/drawing/2014/main" id="{A00FA85A-058F-B1B9-011F-4148815E8857}"/>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F7B59BC0-CFEF-B4E7-B3C8-0203843AF513}"/>
              </a:ext>
            </a:extLst>
          </p:cNvPr>
          <p:cNvSpPr>
            <a:spLocks noGrp="1"/>
          </p:cNvSpPr>
          <p:nvPr>
            <p:ph type="sldNum" sz="quarter" idx="12"/>
          </p:nvPr>
        </p:nvSpPr>
        <p:spPr/>
        <p:txBody>
          <a:bodyPr/>
          <a:lstStyle/>
          <a:p>
            <a:fld id="{622FF674-45F6-47FE-9482-286835A4ADB5}" type="slidenum">
              <a:rPr lang="en-CA" smtClean="0"/>
              <a:t>‹#›</a:t>
            </a:fld>
            <a:endParaRPr lang="en-CA"/>
          </a:p>
        </p:txBody>
      </p:sp>
    </p:spTree>
    <p:extLst>
      <p:ext uri="{BB962C8B-B14F-4D97-AF65-F5344CB8AC3E}">
        <p14:creationId xmlns:p14="http://schemas.microsoft.com/office/powerpoint/2010/main" val="342272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6C004-C0BE-1B52-9E10-94C0D4691A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D7F71F08-9D0B-F6C3-9D4F-B6664DDB34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37EDC901-48CF-EB4A-3B5C-E3BC5CB272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322C70-5024-63EA-0513-69EF48676A6E}"/>
              </a:ext>
            </a:extLst>
          </p:cNvPr>
          <p:cNvSpPr>
            <a:spLocks noGrp="1"/>
          </p:cNvSpPr>
          <p:nvPr>
            <p:ph type="dt" sz="half" idx="10"/>
          </p:nvPr>
        </p:nvSpPr>
        <p:spPr/>
        <p:txBody>
          <a:bodyPr/>
          <a:lstStyle/>
          <a:p>
            <a:fld id="{C27D4026-A294-4EE7-9F82-A791C95D063F}" type="datetimeFigureOut">
              <a:rPr lang="en-CA" smtClean="0"/>
              <a:t>2026-08-05</a:t>
            </a:fld>
            <a:endParaRPr lang="en-CA"/>
          </a:p>
        </p:txBody>
      </p:sp>
      <p:sp>
        <p:nvSpPr>
          <p:cNvPr id="6" name="Footer Placeholder 5">
            <a:extLst>
              <a:ext uri="{FF2B5EF4-FFF2-40B4-BE49-F238E27FC236}">
                <a16:creationId xmlns:a16="http://schemas.microsoft.com/office/drawing/2014/main" id="{1A531F16-B0ED-CEAD-2883-BF2753D7792E}"/>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3447A2E3-1B20-3749-4AD7-00CE0D6DA15D}"/>
              </a:ext>
            </a:extLst>
          </p:cNvPr>
          <p:cNvSpPr>
            <a:spLocks noGrp="1"/>
          </p:cNvSpPr>
          <p:nvPr>
            <p:ph type="sldNum" sz="quarter" idx="12"/>
          </p:nvPr>
        </p:nvSpPr>
        <p:spPr/>
        <p:txBody>
          <a:bodyPr/>
          <a:lstStyle/>
          <a:p>
            <a:fld id="{622FF674-45F6-47FE-9482-286835A4ADB5}" type="slidenum">
              <a:rPr lang="en-CA" smtClean="0"/>
              <a:t>‹#›</a:t>
            </a:fld>
            <a:endParaRPr lang="en-CA"/>
          </a:p>
        </p:txBody>
      </p:sp>
    </p:spTree>
    <p:extLst>
      <p:ext uri="{BB962C8B-B14F-4D97-AF65-F5344CB8AC3E}">
        <p14:creationId xmlns:p14="http://schemas.microsoft.com/office/powerpoint/2010/main" val="3098988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FFCB6-7A0B-D4E3-8E7D-00AAC001F9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A3E01CE4-0B2C-17C0-72DE-69E1007C0A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EA10F3A5-FF53-79D0-C735-80DEF86108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E06B57-4650-C1B1-A8B7-476E02139290}"/>
              </a:ext>
            </a:extLst>
          </p:cNvPr>
          <p:cNvSpPr>
            <a:spLocks noGrp="1"/>
          </p:cNvSpPr>
          <p:nvPr>
            <p:ph type="dt" sz="half" idx="10"/>
          </p:nvPr>
        </p:nvSpPr>
        <p:spPr/>
        <p:txBody>
          <a:bodyPr/>
          <a:lstStyle/>
          <a:p>
            <a:fld id="{C27D4026-A294-4EE7-9F82-A791C95D063F}" type="datetimeFigureOut">
              <a:rPr lang="en-CA" smtClean="0"/>
              <a:t>2026-08-05</a:t>
            </a:fld>
            <a:endParaRPr lang="en-CA"/>
          </a:p>
        </p:txBody>
      </p:sp>
      <p:sp>
        <p:nvSpPr>
          <p:cNvPr id="6" name="Footer Placeholder 5">
            <a:extLst>
              <a:ext uri="{FF2B5EF4-FFF2-40B4-BE49-F238E27FC236}">
                <a16:creationId xmlns:a16="http://schemas.microsoft.com/office/drawing/2014/main" id="{8794CC5F-BCDA-4D89-9E8B-4CD6129349C8}"/>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A60067E4-F114-3985-50CE-75D9E35E97DE}"/>
              </a:ext>
            </a:extLst>
          </p:cNvPr>
          <p:cNvSpPr>
            <a:spLocks noGrp="1"/>
          </p:cNvSpPr>
          <p:nvPr>
            <p:ph type="sldNum" sz="quarter" idx="12"/>
          </p:nvPr>
        </p:nvSpPr>
        <p:spPr/>
        <p:txBody>
          <a:bodyPr/>
          <a:lstStyle/>
          <a:p>
            <a:fld id="{622FF674-45F6-47FE-9482-286835A4ADB5}" type="slidenum">
              <a:rPr lang="en-CA" smtClean="0"/>
              <a:t>‹#›</a:t>
            </a:fld>
            <a:endParaRPr lang="en-CA"/>
          </a:p>
        </p:txBody>
      </p:sp>
    </p:spTree>
    <p:extLst>
      <p:ext uri="{BB962C8B-B14F-4D97-AF65-F5344CB8AC3E}">
        <p14:creationId xmlns:p14="http://schemas.microsoft.com/office/powerpoint/2010/main" val="29528106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EF688-E6A1-8F18-4FCC-3B0BC0ECD1C4}"/>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0B45C743-25EF-BF93-B9AC-1680B037AF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33126A7-C2FD-6EEC-5184-76AE06884CC9}"/>
              </a:ext>
            </a:extLst>
          </p:cNvPr>
          <p:cNvSpPr>
            <a:spLocks noGrp="1"/>
          </p:cNvSpPr>
          <p:nvPr>
            <p:ph type="dt" sz="half" idx="10"/>
          </p:nvPr>
        </p:nvSpPr>
        <p:spPr/>
        <p:txBody>
          <a:bodyPr/>
          <a:lstStyle/>
          <a:p>
            <a:fld id="{C27D4026-A294-4EE7-9F82-A791C95D063F}" type="datetimeFigureOut">
              <a:rPr lang="en-CA" smtClean="0"/>
              <a:t>2026-08-05</a:t>
            </a:fld>
            <a:endParaRPr lang="en-CA"/>
          </a:p>
        </p:txBody>
      </p:sp>
      <p:sp>
        <p:nvSpPr>
          <p:cNvPr id="5" name="Footer Placeholder 4">
            <a:extLst>
              <a:ext uri="{FF2B5EF4-FFF2-40B4-BE49-F238E27FC236}">
                <a16:creationId xmlns:a16="http://schemas.microsoft.com/office/drawing/2014/main" id="{D7504BF5-27AA-61FF-1E35-E13640BE04E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69A083B-13DE-67F8-15DF-8376D594C4EA}"/>
              </a:ext>
            </a:extLst>
          </p:cNvPr>
          <p:cNvSpPr>
            <a:spLocks noGrp="1"/>
          </p:cNvSpPr>
          <p:nvPr>
            <p:ph type="sldNum" sz="quarter" idx="12"/>
          </p:nvPr>
        </p:nvSpPr>
        <p:spPr/>
        <p:txBody>
          <a:bodyPr/>
          <a:lstStyle/>
          <a:p>
            <a:fld id="{622FF674-45F6-47FE-9482-286835A4ADB5}" type="slidenum">
              <a:rPr lang="en-CA" smtClean="0"/>
              <a:t>‹#›</a:t>
            </a:fld>
            <a:endParaRPr lang="en-CA"/>
          </a:p>
        </p:txBody>
      </p:sp>
    </p:spTree>
    <p:extLst>
      <p:ext uri="{BB962C8B-B14F-4D97-AF65-F5344CB8AC3E}">
        <p14:creationId xmlns:p14="http://schemas.microsoft.com/office/powerpoint/2010/main" val="27649887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DD4FA7-E0AC-7C75-53A5-654AAA79DD8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8F12C6E5-4589-3A78-DA22-C864AFADE00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5D2E903-9285-BB5A-849B-68249C5FD88F}"/>
              </a:ext>
            </a:extLst>
          </p:cNvPr>
          <p:cNvSpPr>
            <a:spLocks noGrp="1"/>
          </p:cNvSpPr>
          <p:nvPr>
            <p:ph type="dt" sz="half" idx="10"/>
          </p:nvPr>
        </p:nvSpPr>
        <p:spPr/>
        <p:txBody>
          <a:bodyPr/>
          <a:lstStyle/>
          <a:p>
            <a:fld id="{C27D4026-A294-4EE7-9F82-A791C95D063F}" type="datetimeFigureOut">
              <a:rPr lang="en-CA" smtClean="0"/>
              <a:t>2026-08-05</a:t>
            </a:fld>
            <a:endParaRPr lang="en-CA"/>
          </a:p>
        </p:txBody>
      </p:sp>
      <p:sp>
        <p:nvSpPr>
          <p:cNvPr id="5" name="Footer Placeholder 4">
            <a:extLst>
              <a:ext uri="{FF2B5EF4-FFF2-40B4-BE49-F238E27FC236}">
                <a16:creationId xmlns:a16="http://schemas.microsoft.com/office/drawing/2014/main" id="{9534E610-F6E0-50B7-5FDB-8FA72082936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F040B59-C77E-1505-BCCD-3A8D5FA37045}"/>
              </a:ext>
            </a:extLst>
          </p:cNvPr>
          <p:cNvSpPr>
            <a:spLocks noGrp="1"/>
          </p:cNvSpPr>
          <p:nvPr>
            <p:ph type="sldNum" sz="quarter" idx="12"/>
          </p:nvPr>
        </p:nvSpPr>
        <p:spPr/>
        <p:txBody>
          <a:bodyPr/>
          <a:lstStyle/>
          <a:p>
            <a:fld id="{622FF674-45F6-47FE-9482-286835A4ADB5}" type="slidenum">
              <a:rPr lang="en-CA" smtClean="0"/>
              <a:t>‹#›</a:t>
            </a:fld>
            <a:endParaRPr lang="en-CA"/>
          </a:p>
        </p:txBody>
      </p:sp>
    </p:spTree>
    <p:extLst>
      <p:ext uri="{BB962C8B-B14F-4D97-AF65-F5344CB8AC3E}">
        <p14:creationId xmlns:p14="http://schemas.microsoft.com/office/powerpoint/2010/main" val="13872720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A38984-9F28-999A-FA5F-2DC05AE5F7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2FE8CB0D-E70C-2D81-3DD4-1EEC6063BC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2BA223D-ED8C-AFBE-79C0-19B81421CF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27D4026-A294-4EE7-9F82-A791C95D063F}" type="datetimeFigureOut">
              <a:rPr lang="en-CA" smtClean="0"/>
              <a:t>2026-08-05</a:t>
            </a:fld>
            <a:endParaRPr lang="en-CA"/>
          </a:p>
        </p:txBody>
      </p:sp>
      <p:sp>
        <p:nvSpPr>
          <p:cNvPr id="5" name="Footer Placeholder 4">
            <a:extLst>
              <a:ext uri="{FF2B5EF4-FFF2-40B4-BE49-F238E27FC236}">
                <a16:creationId xmlns:a16="http://schemas.microsoft.com/office/drawing/2014/main" id="{5BC69227-13C3-16D1-4A76-F45DEE3487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58CABE92-C8BC-5655-018A-B6D25E903E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22FF674-45F6-47FE-9482-286835A4ADB5}" type="slidenum">
              <a:rPr lang="en-CA" smtClean="0"/>
              <a:t>‹#›</a:t>
            </a:fld>
            <a:endParaRPr lang="en-CA"/>
          </a:p>
        </p:txBody>
      </p:sp>
    </p:spTree>
    <p:extLst>
      <p:ext uri="{BB962C8B-B14F-4D97-AF65-F5344CB8AC3E}">
        <p14:creationId xmlns:p14="http://schemas.microsoft.com/office/powerpoint/2010/main" val="37697566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3.png"/><Relationship Id="rId4"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4"/>
          <a:stretch>
            <a:fillRect/>
          </a:stretch>
        </p:blipFill>
        <p:spPr>
          <a:xfrm>
            <a:off x="9334500" y="-1143000"/>
            <a:ext cx="4000500" cy="4000500"/>
          </a:xfrm>
          <a:prstGeom prst="rect">
            <a:avLst/>
          </a:prstGeom>
        </p:spPr>
      </p:pic>
      <p:pic>
        <p:nvPicPr>
          <p:cNvPr id="4" name="Picture 3" descr="image.png"/>
          <p:cNvPicPr>
            <a:picLocks noChangeAspect="1"/>
          </p:cNvPicPr>
          <p:nvPr/>
        </p:nvPicPr>
        <p:blipFill>
          <a:blip r:embed="rId5"/>
          <a:stretch>
            <a:fillRect/>
          </a:stretch>
        </p:blipFill>
        <p:spPr>
          <a:xfrm>
            <a:off x="-952500" y="3714750"/>
            <a:ext cx="4572000" cy="4572000"/>
          </a:xfrm>
          <a:prstGeom prst="rect">
            <a:avLst/>
          </a:prstGeom>
        </p:spPr>
      </p:pic>
      <p:pic>
        <p:nvPicPr>
          <p:cNvPr id="5" name="Picture 4" descr="image.png"/>
          <p:cNvPicPr>
            <a:picLocks noChangeAspect="1"/>
          </p:cNvPicPr>
          <p:nvPr/>
        </p:nvPicPr>
        <p:blipFill>
          <a:blip r:embed="rId6"/>
          <a:stretch>
            <a:fillRect/>
          </a:stretch>
        </p:blipFill>
        <p:spPr>
          <a:xfrm>
            <a:off x="609600" y="5800576"/>
            <a:ext cx="10972800" cy="523875"/>
          </a:xfrm>
          <a:prstGeom prst="rect">
            <a:avLst/>
          </a:prstGeom>
        </p:spPr>
      </p:pic>
      <p:pic>
        <p:nvPicPr>
          <p:cNvPr id="7" name="Picture 6" descr="image.png"/>
          <p:cNvPicPr>
            <a:picLocks noChangeAspect="1"/>
          </p:cNvPicPr>
          <p:nvPr/>
        </p:nvPicPr>
        <p:blipFill>
          <a:blip r:embed="rId7"/>
          <a:stretch>
            <a:fillRect/>
          </a:stretch>
        </p:blipFill>
        <p:spPr>
          <a:xfrm>
            <a:off x="609600" y="5981551"/>
            <a:ext cx="3555950" cy="342900"/>
          </a:xfrm>
          <a:prstGeom prst="rect">
            <a:avLst/>
          </a:prstGeom>
        </p:spPr>
      </p:pic>
      <p:pic>
        <p:nvPicPr>
          <p:cNvPr id="8" name="Picture 7" descr="image.png"/>
          <p:cNvPicPr>
            <a:picLocks noChangeAspect="1"/>
          </p:cNvPicPr>
          <p:nvPr/>
        </p:nvPicPr>
        <p:blipFill>
          <a:blip r:embed="rId8"/>
          <a:stretch>
            <a:fillRect/>
          </a:stretch>
        </p:blipFill>
        <p:spPr>
          <a:xfrm>
            <a:off x="4317950" y="5981551"/>
            <a:ext cx="3555950" cy="342900"/>
          </a:xfrm>
          <a:prstGeom prst="rect">
            <a:avLst/>
          </a:prstGeom>
        </p:spPr>
      </p:pic>
      <p:pic>
        <p:nvPicPr>
          <p:cNvPr id="9" name="Picture 8" descr="image.png"/>
          <p:cNvPicPr>
            <a:picLocks noChangeAspect="1"/>
          </p:cNvPicPr>
          <p:nvPr/>
        </p:nvPicPr>
        <p:blipFill>
          <a:blip r:embed="rId9"/>
          <a:stretch>
            <a:fillRect/>
          </a:stretch>
        </p:blipFill>
        <p:spPr>
          <a:xfrm>
            <a:off x="8026300" y="5981551"/>
            <a:ext cx="3556099" cy="342900"/>
          </a:xfrm>
          <a:prstGeom prst="rect">
            <a:avLst/>
          </a:prstGeom>
        </p:spPr>
      </p:pic>
      <p:pic>
        <p:nvPicPr>
          <p:cNvPr id="10" name="Picture 9" descr="image.png"/>
          <p:cNvPicPr>
            <a:picLocks noChangeAspect="1"/>
          </p:cNvPicPr>
          <p:nvPr/>
        </p:nvPicPr>
        <p:blipFill>
          <a:blip r:embed="rId10"/>
          <a:stretch>
            <a:fillRect/>
          </a:stretch>
        </p:blipFill>
        <p:spPr>
          <a:xfrm>
            <a:off x="609600" y="4154685"/>
            <a:ext cx="3555950" cy="723900"/>
          </a:xfrm>
          <a:prstGeom prst="rect">
            <a:avLst/>
          </a:prstGeom>
        </p:spPr>
      </p:pic>
      <p:pic>
        <p:nvPicPr>
          <p:cNvPr id="11" name="Picture 10" descr="image.png"/>
          <p:cNvPicPr>
            <a:picLocks noChangeAspect="1"/>
          </p:cNvPicPr>
          <p:nvPr/>
        </p:nvPicPr>
        <p:blipFill>
          <a:blip r:embed="rId11"/>
          <a:stretch>
            <a:fillRect/>
          </a:stretch>
        </p:blipFill>
        <p:spPr>
          <a:xfrm>
            <a:off x="4317950" y="4154685"/>
            <a:ext cx="3555950" cy="723900"/>
          </a:xfrm>
          <a:prstGeom prst="rect">
            <a:avLst/>
          </a:prstGeom>
        </p:spPr>
      </p:pic>
      <p:pic>
        <p:nvPicPr>
          <p:cNvPr id="12" name="Picture 11" descr="image.png"/>
          <p:cNvPicPr>
            <a:picLocks noChangeAspect="1"/>
          </p:cNvPicPr>
          <p:nvPr/>
        </p:nvPicPr>
        <p:blipFill>
          <a:blip r:embed="rId12"/>
          <a:stretch>
            <a:fillRect/>
          </a:stretch>
        </p:blipFill>
        <p:spPr>
          <a:xfrm>
            <a:off x="8026300" y="4154685"/>
            <a:ext cx="3556099" cy="723900"/>
          </a:xfrm>
          <a:prstGeom prst="rect">
            <a:avLst/>
          </a:prstGeom>
        </p:spPr>
      </p:pic>
      <p:sp>
        <p:nvSpPr>
          <p:cNvPr id="13" name="TextBox 12"/>
          <p:cNvSpPr txBox="1"/>
          <p:nvPr/>
        </p:nvSpPr>
        <p:spPr>
          <a:xfrm>
            <a:off x="609600" y="1864965"/>
            <a:ext cx="11521440" cy="586680"/>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lIns="0" tIns="0" rIns="0" bIns="0" anchor="t">
            <a:spAutoFit/>
          </a:bodyPr>
          <a:lstStyle/>
          <a:p>
            <a:pPr algn="l">
              <a:lnSpc>
                <a:spcPts val="4620"/>
              </a:lnSpc>
            </a:pPr>
            <a:r>
              <a:rPr sz="4400" b="1" dirty="0">
                <a:solidFill>
                  <a:srgbClr val="FF0000"/>
                </a:solidFill>
              </a:rPr>
              <a:t>AI Coding Assistants</a:t>
            </a:r>
          </a:p>
        </p:txBody>
      </p:sp>
      <p:sp>
        <p:nvSpPr>
          <p:cNvPr id="14" name="TextBox 13"/>
          <p:cNvSpPr txBox="1"/>
          <p:nvPr/>
        </p:nvSpPr>
        <p:spPr>
          <a:xfrm>
            <a:off x="609600" y="2563542"/>
            <a:ext cx="10972800" cy="300082"/>
          </a:xfrm>
          <a:prstGeom prst="rect">
            <a:avLst/>
          </a:prstGeom>
          <a:noFill/>
        </p:spPr>
        <p:txBody>
          <a:bodyPr wrap="square" lIns="0" tIns="0" rIns="0" bIns="0" anchor="ctr">
            <a:spAutoFit/>
          </a:bodyPr>
          <a:lstStyle/>
          <a:p>
            <a:pPr algn="l"/>
            <a:r>
              <a:rPr sz="1950" b="0" i="0" u="none" dirty="0">
                <a:solidFill>
                  <a:schemeClr val="bg2">
                    <a:lumMod val="25000"/>
                  </a:schemeClr>
                </a:solidFill>
                <a:latin typeface="Inter SemiBold"/>
              </a:rPr>
              <a:t>Transforming Software Development</a:t>
            </a:r>
          </a:p>
        </p:txBody>
      </p:sp>
      <p:sp>
        <p:nvSpPr>
          <p:cNvPr id="15" name="TextBox 14"/>
          <p:cNvSpPr txBox="1"/>
          <p:nvPr/>
        </p:nvSpPr>
        <p:spPr>
          <a:xfrm>
            <a:off x="866775" y="3878460"/>
            <a:ext cx="10715625" cy="161925"/>
          </a:xfrm>
          <a:prstGeom prst="rect">
            <a:avLst/>
          </a:prstGeom>
          <a:noFill/>
        </p:spPr>
        <p:txBody>
          <a:bodyPr wrap="square" lIns="0" tIns="0" rIns="0" bIns="0" anchor="ctr">
            <a:spAutoFit/>
          </a:bodyPr>
          <a:lstStyle/>
          <a:p>
            <a:pPr algn="l"/>
            <a:r>
              <a:rPr sz="1050" b="1" i="0" u="none">
                <a:solidFill>
                  <a:srgbClr val="1E3A8A"/>
                </a:solidFill>
                <a:latin typeface="Inter"/>
              </a:rPr>
              <a:t>PRESENTED BY</a:t>
            </a:r>
          </a:p>
        </p:txBody>
      </p:sp>
      <p:pic>
        <p:nvPicPr>
          <p:cNvPr id="16" name="Picture 15" descr="image.png"/>
          <p:cNvPicPr>
            <a:picLocks noChangeAspect="1"/>
          </p:cNvPicPr>
          <p:nvPr/>
        </p:nvPicPr>
        <p:blipFill>
          <a:blip r:embed="rId13"/>
          <a:stretch>
            <a:fillRect/>
          </a:stretch>
        </p:blipFill>
        <p:spPr>
          <a:xfrm>
            <a:off x="771525" y="633412"/>
            <a:ext cx="176212" cy="133350"/>
          </a:xfrm>
          <a:prstGeom prst="rect">
            <a:avLst/>
          </a:prstGeom>
        </p:spPr>
      </p:pic>
      <p:sp>
        <p:nvSpPr>
          <p:cNvPr id="17" name="Rounded Rectangle 16"/>
          <p:cNvSpPr/>
          <p:nvPr/>
        </p:nvSpPr>
        <p:spPr>
          <a:xfrm>
            <a:off x="609600" y="2861220"/>
            <a:ext cx="304800" cy="28575"/>
          </a:xfrm>
          <a:prstGeom prst="roundRect">
            <a:avLst>
              <a:gd name="adj" fmla="val 50000"/>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image.png"/>
          <p:cNvPicPr>
            <a:picLocks noChangeAspect="1"/>
          </p:cNvPicPr>
          <p:nvPr/>
        </p:nvPicPr>
        <p:blipFill>
          <a:blip r:embed="rId14"/>
          <a:stretch>
            <a:fillRect/>
          </a:stretch>
        </p:blipFill>
        <p:spPr>
          <a:xfrm>
            <a:off x="609600" y="3892748"/>
            <a:ext cx="180975" cy="133350"/>
          </a:xfrm>
          <a:prstGeom prst="rect">
            <a:avLst/>
          </a:prstGeom>
        </p:spPr>
      </p:pic>
      <p:pic>
        <p:nvPicPr>
          <p:cNvPr id="19" name="Picture 18" descr="image.png"/>
          <p:cNvPicPr>
            <a:picLocks noChangeAspect="1"/>
          </p:cNvPicPr>
          <p:nvPr/>
        </p:nvPicPr>
        <p:blipFill>
          <a:blip r:embed="rId15"/>
          <a:stretch>
            <a:fillRect/>
          </a:stretch>
        </p:blipFill>
        <p:spPr>
          <a:xfrm>
            <a:off x="609600" y="5981551"/>
            <a:ext cx="342900" cy="342900"/>
          </a:xfrm>
          <a:prstGeom prst="rect">
            <a:avLst/>
          </a:prstGeom>
        </p:spPr>
      </p:pic>
      <p:sp>
        <p:nvSpPr>
          <p:cNvPr id="20" name="TextBox 19"/>
          <p:cNvSpPr txBox="1"/>
          <p:nvPr/>
        </p:nvSpPr>
        <p:spPr>
          <a:xfrm>
            <a:off x="1066800" y="6005363"/>
            <a:ext cx="1457325" cy="184666"/>
          </a:xfrm>
          <a:prstGeom prst="rect">
            <a:avLst/>
          </a:prstGeom>
          <a:noFill/>
        </p:spPr>
        <p:txBody>
          <a:bodyPr wrap="square" lIns="0" tIns="0" rIns="0" bIns="0" anchor="t">
            <a:spAutoFit/>
          </a:bodyPr>
          <a:lstStyle/>
          <a:p>
            <a:pPr algn="l"/>
            <a:r>
              <a:rPr sz="1200" b="0" i="0" u="none" dirty="0">
                <a:solidFill>
                  <a:srgbClr val="64748B"/>
                </a:solidFill>
                <a:latin typeface="Inter SemiBold"/>
              </a:rPr>
              <a:t>Course</a:t>
            </a:r>
            <a:r>
              <a:rPr sz="1200" b="0" i="0" u="none" dirty="0">
                <a:solidFill>
                  <a:srgbClr val="0F172A"/>
                </a:solidFill>
                <a:latin typeface="Inter"/>
              </a:rPr>
              <a:t> </a:t>
            </a:r>
            <a:r>
              <a:rPr lang="en-US" sz="1200" b="1" dirty="0">
                <a:solidFill>
                  <a:srgbClr val="0F172A"/>
                </a:solidFill>
                <a:latin typeface="Inter SemiBold"/>
              </a:rPr>
              <a:t>CEP146</a:t>
            </a:r>
            <a:endParaRPr sz="1200" b="1" i="0" u="none" dirty="0">
              <a:solidFill>
                <a:srgbClr val="0F172A"/>
              </a:solidFill>
              <a:latin typeface="Inter SemiBold"/>
            </a:endParaRPr>
          </a:p>
        </p:txBody>
      </p:sp>
      <p:pic>
        <p:nvPicPr>
          <p:cNvPr id="21" name="Picture 20" descr="image.png"/>
          <p:cNvPicPr>
            <a:picLocks noChangeAspect="1"/>
          </p:cNvPicPr>
          <p:nvPr/>
        </p:nvPicPr>
        <p:blipFill>
          <a:blip r:embed="rId16"/>
          <a:stretch>
            <a:fillRect/>
          </a:stretch>
        </p:blipFill>
        <p:spPr>
          <a:xfrm>
            <a:off x="4317950" y="5981551"/>
            <a:ext cx="342900" cy="342900"/>
          </a:xfrm>
          <a:prstGeom prst="rect">
            <a:avLst/>
          </a:prstGeom>
        </p:spPr>
      </p:pic>
      <p:sp>
        <p:nvSpPr>
          <p:cNvPr id="22" name="TextBox 21"/>
          <p:cNvSpPr txBox="1"/>
          <p:nvPr/>
        </p:nvSpPr>
        <p:spPr>
          <a:xfrm>
            <a:off x="4775150" y="6005363"/>
            <a:ext cx="2362250" cy="184666"/>
          </a:xfrm>
          <a:prstGeom prst="rect">
            <a:avLst/>
          </a:prstGeom>
          <a:noFill/>
        </p:spPr>
        <p:txBody>
          <a:bodyPr wrap="square" lIns="0" tIns="0" rIns="0" bIns="0" anchor="t">
            <a:spAutoFit/>
          </a:bodyPr>
          <a:lstStyle/>
          <a:p>
            <a:r>
              <a:rPr sz="1200" b="0" i="0" u="none" dirty="0">
                <a:solidFill>
                  <a:srgbClr val="64748B"/>
                </a:solidFill>
                <a:latin typeface="Inter SemiBold"/>
              </a:rPr>
              <a:t>Instructor</a:t>
            </a:r>
            <a:r>
              <a:rPr sz="1200" b="0" i="0" u="none" dirty="0">
                <a:solidFill>
                  <a:srgbClr val="0F172A"/>
                </a:solidFill>
                <a:latin typeface="Inter"/>
              </a:rPr>
              <a:t> </a:t>
            </a:r>
            <a:r>
              <a:rPr lang="en-US" sz="1200" b="1" dirty="0">
                <a:solidFill>
                  <a:srgbClr val="0F172A"/>
                </a:solidFill>
                <a:latin typeface="Inter SemiBold"/>
              </a:rPr>
              <a:t>Professor </a:t>
            </a:r>
            <a:r>
              <a:rPr lang="en-CA" sz="1200" b="1" dirty="0"/>
              <a:t>Raymond Wong</a:t>
            </a:r>
            <a:endParaRPr sz="1200" b="1" i="0" u="none" dirty="0">
              <a:solidFill>
                <a:srgbClr val="0F172A"/>
              </a:solidFill>
              <a:latin typeface="Inter SemiBold"/>
            </a:endParaRPr>
          </a:p>
        </p:txBody>
      </p:sp>
      <p:pic>
        <p:nvPicPr>
          <p:cNvPr id="23" name="Picture 22" descr="image.png"/>
          <p:cNvPicPr>
            <a:picLocks noChangeAspect="1"/>
          </p:cNvPicPr>
          <p:nvPr/>
        </p:nvPicPr>
        <p:blipFill>
          <a:blip r:embed="rId17"/>
          <a:stretch>
            <a:fillRect/>
          </a:stretch>
        </p:blipFill>
        <p:spPr>
          <a:xfrm>
            <a:off x="8026300" y="5981551"/>
            <a:ext cx="342900" cy="342900"/>
          </a:xfrm>
          <a:prstGeom prst="rect">
            <a:avLst/>
          </a:prstGeom>
        </p:spPr>
      </p:pic>
      <p:sp>
        <p:nvSpPr>
          <p:cNvPr id="24" name="TextBox 23"/>
          <p:cNvSpPr txBox="1"/>
          <p:nvPr/>
        </p:nvSpPr>
        <p:spPr>
          <a:xfrm>
            <a:off x="8483500" y="6005363"/>
            <a:ext cx="1266825" cy="184666"/>
          </a:xfrm>
          <a:prstGeom prst="rect">
            <a:avLst/>
          </a:prstGeom>
          <a:noFill/>
        </p:spPr>
        <p:txBody>
          <a:bodyPr wrap="square" lIns="0" tIns="0" rIns="0" bIns="0" anchor="t">
            <a:spAutoFit/>
          </a:bodyPr>
          <a:lstStyle/>
          <a:p>
            <a:pPr algn="l"/>
            <a:r>
              <a:rPr sz="1200" b="0" i="0" u="none" dirty="0">
                <a:solidFill>
                  <a:srgbClr val="64748B"/>
                </a:solidFill>
                <a:latin typeface="Inter SemiBold"/>
              </a:rPr>
              <a:t>Date</a:t>
            </a:r>
            <a:r>
              <a:rPr sz="1200" b="0" i="0" u="none" dirty="0">
                <a:solidFill>
                  <a:srgbClr val="0F172A"/>
                </a:solidFill>
                <a:latin typeface="Inter"/>
              </a:rPr>
              <a:t> </a:t>
            </a:r>
            <a:r>
              <a:rPr lang="en-US" sz="1200" b="1" i="0" u="none" dirty="0">
                <a:solidFill>
                  <a:srgbClr val="0F172A"/>
                </a:solidFill>
                <a:latin typeface="Inter SemiBold"/>
              </a:rPr>
              <a:t>Summer2026</a:t>
            </a:r>
            <a:endParaRPr sz="1200" b="1" i="0" u="none" dirty="0">
              <a:solidFill>
                <a:srgbClr val="0F172A"/>
              </a:solidFill>
              <a:latin typeface="Inter SemiBold"/>
            </a:endParaRPr>
          </a:p>
        </p:txBody>
      </p:sp>
      <p:pic>
        <p:nvPicPr>
          <p:cNvPr id="25" name="Picture 24" descr="image.png"/>
          <p:cNvPicPr>
            <a:picLocks noChangeAspect="1"/>
          </p:cNvPicPr>
          <p:nvPr/>
        </p:nvPicPr>
        <p:blipFill>
          <a:blip r:embed="rId18"/>
          <a:stretch>
            <a:fillRect/>
          </a:stretch>
        </p:blipFill>
        <p:spPr>
          <a:xfrm>
            <a:off x="819150" y="4316610"/>
            <a:ext cx="400050" cy="400050"/>
          </a:xfrm>
          <a:prstGeom prst="rect">
            <a:avLst/>
          </a:prstGeom>
        </p:spPr>
      </p:pic>
      <p:pic>
        <p:nvPicPr>
          <p:cNvPr id="26" name="Picture 25" descr="image.png"/>
          <p:cNvPicPr>
            <a:picLocks noChangeAspect="1"/>
          </p:cNvPicPr>
          <p:nvPr/>
        </p:nvPicPr>
        <p:blipFill>
          <a:blip r:embed="rId19"/>
          <a:stretch>
            <a:fillRect/>
          </a:stretch>
        </p:blipFill>
        <p:spPr>
          <a:xfrm>
            <a:off x="4527500" y="4316610"/>
            <a:ext cx="400050" cy="400050"/>
          </a:xfrm>
          <a:prstGeom prst="rect">
            <a:avLst/>
          </a:prstGeom>
        </p:spPr>
      </p:pic>
      <p:pic>
        <p:nvPicPr>
          <p:cNvPr id="27" name="Picture 26" descr="image.png"/>
          <p:cNvPicPr>
            <a:picLocks noChangeAspect="1"/>
          </p:cNvPicPr>
          <p:nvPr/>
        </p:nvPicPr>
        <p:blipFill>
          <a:blip r:embed="rId20"/>
          <a:stretch>
            <a:fillRect/>
          </a:stretch>
        </p:blipFill>
        <p:spPr>
          <a:xfrm>
            <a:off x="8235850" y="4316610"/>
            <a:ext cx="400050" cy="400050"/>
          </a:xfrm>
          <a:prstGeom prst="rect">
            <a:avLst/>
          </a:prstGeom>
        </p:spPr>
      </p:pic>
      <p:pic>
        <p:nvPicPr>
          <p:cNvPr id="28" name="Picture 27" descr="image.png"/>
          <p:cNvPicPr>
            <a:picLocks noChangeAspect="1"/>
          </p:cNvPicPr>
          <p:nvPr/>
        </p:nvPicPr>
        <p:blipFill>
          <a:blip r:embed="rId21"/>
          <a:stretch>
            <a:fillRect/>
          </a:stretch>
        </p:blipFill>
        <p:spPr>
          <a:xfrm>
            <a:off x="719137" y="6081563"/>
            <a:ext cx="123825" cy="142875"/>
          </a:xfrm>
          <a:prstGeom prst="rect">
            <a:avLst/>
          </a:prstGeom>
        </p:spPr>
      </p:pic>
      <p:pic>
        <p:nvPicPr>
          <p:cNvPr id="29" name="Picture 28" descr="image.png"/>
          <p:cNvPicPr>
            <a:picLocks noChangeAspect="1"/>
          </p:cNvPicPr>
          <p:nvPr/>
        </p:nvPicPr>
        <p:blipFill>
          <a:blip r:embed="rId22"/>
          <a:stretch>
            <a:fillRect/>
          </a:stretch>
        </p:blipFill>
        <p:spPr>
          <a:xfrm>
            <a:off x="4427487" y="6081563"/>
            <a:ext cx="123825" cy="142875"/>
          </a:xfrm>
          <a:prstGeom prst="rect">
            <a:avLst/>
          </a:prstGeom>
        </p:spPr>
      </p:pic>
      <p:pic>
        <p:nvPicPr>
          <p:cNvPr id="30" name="Picture 29" descr="image.png"/>
          <p:cNvPicPr>
            <a:picLocks noChangeAspect="1"/>
          </p:cNvPicPr>
          <p:nvPr/>
        </p:nvPicPr>
        <p:blipFill>
          <a:blip r:embed="rId23"/>
          <a:stretch>
            <a:fillRect/>
          </a:stretch>
        </p:blipFill>
        <p:spPr>
          <a:xfrm>
            <a:off x="8135838" y="6081563"/>
            <a:ext cx="123825" cy="142875"/>
          </a:xfrm>
          <a:prstGeom prst="rect">
            <a:avLst/>
          </a:prstGeom>
        </p:spPr>
      </p:pic>
      <p:sp>
        <p:nvSpPr>
          <p:cNvPr id="31" name="TextBox 30"/>
          <p:cNvSpPr txBox="1"/>
          <p:nvPr/>
        </p:nvSpPr>
        <p:spPr>
          <a:xfrm>
            <a:off x="1352550" y="4340423"/>
            <a:ext cx="1171575" cy="184666"/>
          </a:xfrm>
          <a:prstGeom prst="rect">
            <a:avLst/>
          </a:prstGeom>
          <a:noFill/>
        </p:spPr>
        <p:txBody>
          <a:bodyPr wrap="square" lIns="0" tIns="0" rIns="0" bIns="0" anchor="t">
            <a:spAutoFit/>
          </a:bodyPr>
          <a:lstStyle/>
          <a:p>
            <a:pPr algn="l"/>
            <a:r>
              <a:rPr sz="1200" b="1" i="0" u="none" dirty="0">
                <a:solidFill>
                  <a:srgbClr val="0F172A"/>
                </a:solidFill>
                <a:latin typeface="Inter"/>
              </a:rPr>
              <a:t>[</a:t>
            </a:r>
            <a:r>
              <a:rPr lang="en-US" sz="1200" b="1" i="0" u="none" dirty="0">
                <a:solidFill>
                  <a:srgbClr val="0F172A"/>
                </a:solidFill>
                <a:latin typeface="Inter"/>
              </a:rPr>
              <a:t>Shima Vosoogh</a:t>
            </a:r>
            <a:endParaRPr sz="1200" b="1" i="0" u="none" dirty="0">
              <a:solidFill>
                <a:srgbClr val="0F172A"/>
              </a:solidFill>
              <a:latin typeface="Inter"/>
            </a:endParaRPr>
          </a:p>
        </p:txBody>
      </p:sp>
      <p:sp>
        <p:nvSpPr>
          <p:cNvPr id="32" name="TextBox 31"/>
          <p:cNvSpPr txBox="1"/>
          <p:nvPr/>
        </p:nvSpPr>
        <p:spPr>
          <a:xfrm>
            <a:off x="1352550" y="4549973"/>
            <a:ext cx="942975" cy="142875"/>
          </a:xfrm>
          <a:prstGeom prst="rect">
            <a:avLst/>
          </a:prstGeom>
          <a:noFill/>
        </p:spPr>
        <p:txBody>
          <a:bodyPr wrap="square" lIns="0" tIns="0" rIns="0" bIns="0" anchor="t">
            <a:spAutoFit/>
          </a:bodyPr>
          <a:lstStyle/>
          <a:p>
            <a:pPr algn="l"/>
            <a:r>
              <a:rPr sz="900" b="0" i="0" u="none">
                <a:solidFill>
                  <a:srgbClr val="475569"/>
                </a:solidFill>
                <a:latin typeface="Inter Medium"/>
              </a:rPr>
              <a:t>Presenter 1</a:t>
            </a:r>
          </a:p>
        </p:txBody>
      </p:sp>
      <p:sp>
        <p:nvSpPr>
          <p:cNvPr id="34" name="TextBox 33"/>
          <p:cNvSpPr txBox="1"/>
          <p:nvPr/>
        </p:nvSpPr>
        <p:spPr>
          <a:xfrm>
            <a:off x="5060900" y="4371825"/>
            <a:ext cx="1514326" cy="184666"/>
          </a:xfrm>
          <a:prstGeom prst="rect">
            <a:avLst/>
          </a:prstGeom>
          <a:noFill/>
        </p:spPr>
        <p:txBody>
          <a:bodyPr wrap="square" lIns="0" tIns="0" rIns="0" bIns="0" anchor="t">
            <a:spAutoFit/>
          </a:bodyPr>
          <a:lstStyle/>
          <a:p>
            <a:pPr algn="l"/>
            <a:r>
              <a:rPr lang="en-US" sz="1200" b="1" i="0" u="none" dirty="0">
                <a:solidFill>
                  <a:srgbClr val="0F172A"/>
                </a:solidFill>
                <a:latin typeface="Inter"/>
              </a:rPr>
              <a:t>Gulpari </a:t>
            </a:r>
            <a:r>
              <a:rPr lang="en-US" sz="1200" b="1" i="0" u="none" dirty="0" err="1">
                <a:solidFill>
                  <a:srgbClr val="0F172A"/>
                </a:solidFill>
                <a:latin typeface="Inter"/>
              </a:rPr>
              <a:t>Alandarova</a:t>
            </a:r>
            <a:endParaRPr sz="1200" b="1" i="0" u="none" dirty="0">
              <a:solidFill>
                <a:srgbClr val="0F172A"/>
              </a:solidFill>
              <a:latin typeface="Inter"/>
            </a:endParaRPr>
          </a:p>
        </p:txBody>
      </p:sp>
      <p:sp>
        <p:nvSpPr>
          <p:cNvPr id="35" name="TextBox 34"/>
          <p:cNvSpPr txBox="1"/>
          <p:nvPr/>
        </p:nvSpPr>
        <p:spPr>
          <a:xfrm>
            <a:off x="5060900" y="4549973"/>
            <a:ext cx="1362075" cy="142875"/>
          </a:xfrm>
          <a:prstGeom prst="rect">
            <a:avLst/>
          </a:prstGeom>
          <a:noFill/>
        </p:spPr>
        <p:txBody>
          <a:bodyPr wrap="square" lIns="0" tIns="0" rIns="0" bIns="0" anchor="t">
            <a:spAutoFit/>
          </a:bodyPr>
          <a:lstStyle/>
          <a:p>
            <a:pPr algn="l"/>
            <a:r>
              <a:rPr sz="900" b="0" i="0" u="none">
                <a:solidFill>
                  <a:srgbClr val="475569"/>
                </a:solidFill>
                <a:latin typeface="Inter Medium"/>
              </a:rPr>
              <a:t>Presenter 2</a:t>
            </a:r>
          </a:p>
        </p:txBody>
      </p:sp>
      <p:pic>
        <p:nvPicPr>
          <p:cNvPr id="36" name="Picture 35" descr="image.png"/>
          <p:cNvPicPr>
            <a:picLocks noChangeAspect="1"/>
          </p:cNvPicPr>
          <p:nvPr/>
        </p:nvPicPr>
        <p:blipFill>
          <a:blip r:embed="rId24"/>
          <a:stretch>
            <a:fillRect/>
          </a:stretch>
        </p:blipFill>
        <p:spPr>
          <a:xfrm>
            <a:off x="8326338" y="4430910"/>
            <a:ext cx="219075" cy="171450"/>
          </a:xfrm>
          <a:prstGeom prst="rect">
            <a:avLst/>
          </a:prstGeom>
        </p:spPr>
      </p:pic>
      <p:sp>
        <p:nvSpPr>
          <p:cNvPr id="37" name="TextBox 36"/>
          <p:cNvSpPr txBox="1"/>
          <p:nvPr/>
        </p:nvSpPr>
        <p:spPr>
          <a:xfrm>
            <a:off x="8769250" y="4340423"/>
            <a:ext cx="1362075" cy="190500"/>
          </a:xfrm>
          <a:prstGeom prst="rect">
            <a:avLst/>
          </a:prstGeom>
          <a:noFill/>
        </p:spPr>
        <p:txBody>
          <a:bodyPr wrap="square" lIns="0" tIns="0" rIns="0" bIns="0" anchor="t">
            <a:spAutoFit/>
          </a:bodyPr>
          <a:lstStyle/>
          <a:p>
            <a:pPr algn="l"/>
            <a:r>
              <a:rPr sz="1200" b="1" i="0" u="none" dirty="0">
                <a:solidFill>
                  <a:srgbClr val="0F172A"/>
                </a:solidFill>
                <a:latin typeface="Inter"/>
              </a:rPr>
              <a:t>[</a:t>
            </a:r>
            <a:r>
              <a:rPr lang="en-US" sz="1200" b="1" i="0" u="none" dirty="0">
                <a:solidFill>
                  <a:srgbClr val="0F172A"/>
                </a:solidFill>
                <a:latin typeface="Inter"/>
              </a:rPr>
              <a:t>Rafia Riana</a:t>
            </a:r>
            <a:endParaRPr sz="1200" b="1" i="0" u="none" dirty="0">
              <a:solidFill>
                <a:srgbClr val="0F172A"/>
              </a:solidFill>
              <a:latin typeface="Inter"/>
            </a:endParaRPr>
          </a:p>
        </p:txBody>
      </p:sp>
      <p:pic>
        <p:nvPicPr>
          <p:cNvPr id="40" name="Picture 39" descr="image.png">
            <a:extLst>
              <a:ext uri="{FF2B5EF4-FFF2-40B4-BE49-F238E27FC236}">
                <a16:creationId xmlns:a16="http://schemas.microsoft.com/office/drawing/2014/main" id="{E3834C8E-3A3A-D1F3-8035-905BC37BF66B}"/>
              </a:ext>
            </a:extLst>
          </p:cNvPr>
          <p:cNvPicPr>
            <a:picLocks noChangeAspect="1"/>
          </p:cNvPicPr>
          <p:nvPr/>
        </p:nvPicPr>
        <p:blipFill>
          <a:blip r:embed="rId24"/>
          <a:stretch>
            <a:fillRect/>
          </a:stretch>
        </p:blipFill>
        <p:spPr>
          <a:xfrm>
            <a:off x="4617987" y="4445198"/>
            <a:ext cx="219075" cy="171450"/>
          </a:xfrm>
          <a:prstGeom prst="rect">
            <a:avLst/>
          </a:prstGeom>
        </p:spPr>
      </p:pic>
      <p:pic>
        <p:nvPicPr>
          <p:cNvPr id="42" name="Picture 41" descr="image.png">
            <a:extLst>
              <a:ext uri="{FF2B5EF4-FFF2-40B4-BE49-F238E27FC236}">
                <a16:creationId xmlns:a16="http://schemas.microsoft.com/office/drawing/2014/main" id="{E6F247EA-7D00-82C6-14A8-2043AC92ACED}"/>
              </a:ext>
            </a:extLst>
          </p:cNvPr>
          <p:cNvPicPr>
            <a:picLocks noChangeAspect="1"/>
          </p:cNvPicPr>
          <p:nvPr/>
        </p:nvPicPr>
        <p:blipFill>
          <a:blip r:embed="rId24"/>
          <a:stretch>
            <a:fillRect/>
          </a:stretch>
        </p:blipFill>
        <p:spPr>
          <a:xfrm>
            <a:off x="909637" y="4445198"/>
            <a:ext cx="219075" cy="1714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21795"/>
    </mc:Choice>
    <mc:Fallback xmlns="">
      <p:transition spd="slow" advTm="2179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75632" y="222703"/>
            <a:ext cx="4820935" cy="1923604"/>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lIns="0" tIns="0" rIns="0" bIns="0" anchor="t">
            <a:spAutoFit/>
          </a:bodyPr>
          <a:lstStyle/>
          <a:p>
            <a:pPr>
              <a:lnSpc>
                <a:spcPts val="4950"/>
              </a:lnSpc>
            </a:pPr>
            <a:r>
              <a:rPr lang="en-CA" sz="4400" b="1" dirty="0">
                <a:solidFill>
                  <a:srgbClr val="FF0000"/>
                </a:solidFill>
              </a:rPr>
              <a:t>Would You Hire a Junior Developer Who Never Sleeps?</a:t>
            </a:r>
            <a:endParaRPr sz="4400" b="1" dirty="0">
              <a:solidFill>
                <a:srgbClr val="FF0000"/>
              </a:solidFill>
            </a:endParaRPr>
          </a:p>
        </p:txBody>
      </p:sp>
      <p:pic>
        <p:nvPicPr>
          <p:cNvPr id="5" name="Picture 4">
            <a:extLst>
              <a:ext uri="{FF2B5EF4-FFF2-40B4-BE49-F238E27FC236}">
                <a16:creationId xmlns:a16="http://schemas.microsoft.com/office/drawing/2014/main" id="{86AEEB0C-94A0-3695-82F3-BE2D197C6E38}"/>
              </a:ext>
            </a:extLst>
          </p:cNvPr>
          <p:cNvPicPr>
            <a:picLocks noChangeAspect="1"/>
          </p:cNvPicPr>
          <p:nvPr/>
        </p:nvPicPr>
        <p:blipFill>
          <a:blip r:embed="rId2"/>
          <a:stretch>
            <a:fillRect/>
          </a:stretch>
        </p:blipFill>
        <p:spPr>
          <a:xfrm>
            <a:off x="4274715" y="2780906"/>
            <a:ext cx="7091785" cy="3347860"/>
          </a:xfrm>
          <a:prstGeom prst="rect">
            <a:avLst/>
          </a:prstGeom>
          <a:ln>
            <a:noFill/>
          </a:ln>
          <a:effectLst>
            <a:outerShdw blurRad="190500" algn="tl" rotWithShape="0">
              <a:srgbClr val="000000">
                <a:alpha val="70000"/>
              </a:srgbClr>
            </a:outerShdw>
          </a:effectLst>
        </p:spPr>
      </p:pic>
      <p:sp>
        <p:nvSpPr>
          <p:cNvPr id="2" name="TextBox 1">
            <a:extLst>
              <a:ext uri="{FF2B5EF4-FFF2-40B4-BE49-F238E27FC236}">
                <a16:creationId xmlns:a16="http://schemas.microsoft.com/office/drawing/2014/main" id="{7B79803F-933D-00A2-099B-EE21338C7C8E}"/>
              </a:ext>
            </a:extLst>
          </p:cNvPr>
          <p:cNvSpPr txBox="1"/>
          <p:nvPr/>
        </p:nvSpPr>
        <p:spPr>
          <a:xfrm>
            <a:off x="5651500" y="850900"/>
            <a:ext cx="5715000" cy="1785104"/>
          </a:xfrm>
          <a:prstGeom prst="rect">
            <a:avLst/>
          </a:prstGeom>
          <a:noFill/>
        </p:spPr>
        <p:txBody>
          <a:bodyPr wrap="square" rtlCol="0">
            <a:spAutoFit/>
          </a:bodyPr>
          <a:lstStyle/>
          <a:p>
            <a:r>
              <a:rPr lang="en-CA" b="1" dirty="0">
                <a:solidFill>
                  <a:schemeClr val="bg2">
                    <a:lumMod val="25000"/>
                  </a:schemeClr>
                </a:solidFill>
                <a:latin typeface="Abadi" panose="020B0604020104020204" pitchFamily="34" charset="0"/>
              </a:rPr>
              <a:t>What Are AI Coding Assistants?</a:t>
            </a:r>
          </a:p>
          <a:p>
            <a:endParaRPr lang="en-CA" b="1" dirty="0">
              <a:latin typeface="Abadi" panose="020B0604020104020204" pitchFamily="34" charset="0"/>
            </a:endParaRPr>
          </a:p>
          <a:p>
            <a:r>
              <a:rPr lang="en-CA" sz="1400" dirty="0">
                <a:solidFill>
                  <a:schemeClr val="tx2">
                    <a:lumMod val="75000"/>
                  </a:schemeClr>
                </a:solidFill>
              </a:rPr>
              <a:t>Software development is no longer just about writing code—it's increasingly about collaborating with AI. AI coding assistants help developers generate, debug, explain, and improve code, making software development faster and more efficient.</a:t>
            </a:r>
          </a:p>
          <a:p>
            <a:endParaRPr lang="en-CA" dirty="0"/>
          </a:p>
        </p:txBody>
      </p:sp>
      <p:pic>
        <p:nvPicPr>
          <p:cNvPr id="6" name="Picture 5">
            <a:extLst>
              <a:ext uri="{FF2B5EF4-FFF2-40B4-BE49-F238E27FC236}">
                <a16:creationId xmlns:a16="http://schemas.microsoft.com/office/drawing/2014/main" id="{6D19809A-5BFE-3EC8-8F37-491A896E804F}"/>
              </a:ext>
            </a:extLst>
          </p:cNvPr>
          <p:cNvPicPr>
            <a:picLocks noChangeAspect="1"/>
          </p:cNvPicPr>
          <p:nvPr/>
        </p:nvPicPr>
        <p:blipFill>
          <a:blip r:embed="rId3"/>
          <a:stretch>
            <a:fillRect/>
          </a:stretch>
        </p:blipFill>
        <p:spPr>
          <a:xfrm>
            <a:off x="442627" y="2616144"/>
            <a:ext cx="3240951" cy="120867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23753"/>
    </mc:Choice>
    <mc:Fallback xmlns="">
      <p:transition spd="slow" advTm="2375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250"/>
                            </p:stCondLst>
                            <p:childTnLst>
                              <p:par>
                                <p:cTn id="11" presetID="10" presetClass="entr" presetSubtype="0" fill="hold" nodeType="afterEffect">
                                  <p:stCondLst>
                                    <p:cond delay="5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3"/>
          <a:stretch>
            <a:fillRect/>
          </a:stretch>
        </p:blipFill>
        <p:spPr>
          <a:xfrm>
            <a:off x="2104458" y="2395537"/>
            <a:ext cx="457200" cy="457200"/>
          </a:xfrm>
          <a:prstGeom prst="rect">
            <a:avLst/>
          </a:prstGeom>
        </p:spPr>
      </p:pic>
      <p:pic>
        <p:nvPicPr>
          <p:cNvPr id="2" name="Picture 1" descr="image.png"/>
          <p:cNvPicPr>
            <a:picLocks noChangeAspect="1"/>
          </p:cNvPicPr>
          <p:nvPr/>
        </p:nvPicPr>
        <p:blipFill>
          <a:blip r:embed="rId4"/>
          <a:stretch>
            <a:fillRect/>
          </a:stretch>
        </p:blipFill>
        <p:spPr>
          <a:xfrm>
            <a:off x="17102" y="0"/>
            <a:ext cx="12192000" cy="6858000"/>
          </a:xfrm>
          <a:prstGeom prst="rect">
            <a:avLst/>
          </a:prstGeom>
        </p:spPr>
      </p:pic>
      <p:sp>
        <p:nvSpPr>
          <p:cNvPr id="32" name="TextBox 31"/>
          <p:cNvSpPr txBox="1"/>
          <p:nvPr/>
        </p:nvSpPr>
        <p:spPr>
          <a:xfrm>
            <a:off x="847725" y="4757737"/>
            <a:ext cx="66675" cy="189411"/>
          </a:xfrm>
          <a:prstGeom prst="rect">
            <a:avLst/>
          </a:prstGeom>
          <a:noFill/>
        </p:spPr>
        <p:txBody>
          <a:bodyPr wrap="square" lIns="0" tIns="0" rIns="0" bIns="0" anchor="t">
            <a:spAutoFit/>
          </a:bodyPr>
          <a:lstStyle/>
          <a:p>
            <a:pPr algn="l">
              <a:lnSpc>
                <a:spcPts val="1575"/>
              </a:lnSpc>
            </a:pPr>
            <a:endParaRPr sz="1050" b="1" i="0" u="none" dirty="0">
              <a:solidFill>
                <a:srgbClr val="6366F1"/>
              </a:solidFill>
              <a:latin typeface="Inter"/>
            </a:endParaRPr>
          </a:p>
        </p:txBody>
      </p:sp>
      <p:sp>
        <p:nvSpPr>
          <p:cNvPr id="38" name="TextBox 37"/>
          <p:cNvSpPr txBox="1"/>
          <p:nvPr/>
        </p:nvSpPr>
        <p:spPr>
          <a:xfrm>
            <a:off x="8337649" y="4995862"/>
            <a:ext cx="66675" cy="189411"/>
          </a:xfrm>
          <a:prstGeom prst="rect">
            <a:avLst/>
          </a:prstGeom>
          <a:noFill/>
        </p:spPr>
        <p:txBody>
          <a:bodyPr wrap="square" lIns="0" tIns="0" rIns="0" bIns="0" anchor="t">
            <a:spAutoFit/>
          </a:bodyPr>
          <a:lstStyle/>
          <a:p>
            <a:pPr algn="l">
              <a:lnSpc>
                <a:spcPts val="1575"/>
              </a:lnSpc>
            </a:pPr>
            <a:endParaRPr sz="1050" b="1" i="0" u="none" dirty="0">
              <a:solidFill>
                <a:srgbClr val="6366F1"/>
              </a:solidFill>
              <a:latin typeface="Inter"/>
            </a:endParaRPr>
          </a:p>
        </p:txBody>
      </p:sp>
      <p:sp>
        <p:nvSpPr>
          <p:cNvPr id="39" name="TextBox 38"/>
          <p:cNvSpPr txBox="1"/>
          <p:nvPr/>
        </p:nvSpPr>
        <p:spPr>
          <a:xfrm>
            <a:off x="687436" y="565954"/>
            <a:ext cx="11601450" cy="651397"/>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lIns="0" tIns="0" rIns="0" bIns="0" anchor="t">
            <a:spAutoFit/>
          </a:bodyPr>
          <a:lstStyle/>
          <a:p>
            <a:pPr>
              <a:lnSpc>
                <a:spcPts val="4950"/>
              </a:lnSpc>
            </a:pPr>
            <a:r>
              <a:rPr sz="4400" b="1" dirty="0">
                <a:solidFill>
                  <a:srgbClr val="FF0000"/>
                </a:solidFill>
              </a:rPr>
              <a:t>The Evolution of AI Coding Tools</a:t>
            </a:r>
          </a:p>
        </p:txBody>
      </p:sp>
      <p:sp>
        <p:nvSpPr>
          <p:cNvPr id="40" name="Rounded Rectangle 39"/>
          <p:cNvSpPr/>
          <p:nvPr/>
        </p:nvSpPr>
        <p:spPr>
          <a:xfrm>
            <a:off x="571500" y="1190625"/>
            <a:ext cx="514350" cy="3810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46" name="Group 45">
            <a:extLst>
              <a:ext uri="{FF2B5EF4-FFF2-40B4-BE49-F238E27FC236}">
                <a16:creationId xmlns:a16="http://schemas.microsoft.com/office/drawing/2014/main" id="{0F17EFA0-2F9A-42C9-8397-248D6F900140}"/>
              </a:ext>
            </a:extLst>
          </p:cNvPr>
          <p:cNvGrpSpPr/>
          <p:nvPr/>
        </p:nvGrpSpPr>
        <p:grpSpPr>
          <a:xfrm>
            <a:off x="150848" y="1490837"/>
            <a:ext cx="6211704" cy="2537303"/>
            <a:chOff x="150847" y="1462496"/>
            <a:chExt cx="6558493" cy="2466566"/>
          </a:xfrm>
        </p:grpSpPr>
        <p:grpSp>
          <p:nvGrpSpPr>
            <p:cNvPr id="43" name="Group 42">
              <a:extLst>
                <a:ext uri="{FF2B5EF4-FFF2-40B4-BE49-F238E27FC236}">
                  <a16:creationId xmlns:a16="http://schemas.microsoft.com/office/drawing/2014/main" id="{20C6B2D6-8BBB-F331-1C54-2317D499B088}"/>
                </a:ext>
              </a:extLst>
            </p:cNvPr>
            <p:cNvGrpSpPr/>
            <p:nvPr/>
          </p:nvGrpSpPr>
          <p:grpSpPr>
            <a:xfrm>
              <a:off x="150847" y="1462496"/>
              <a:ext cx="2669456" cy="2466566"/>
              <a:chOff x="484064" y="2224087"/>
              <a:chExt cx="3549699" cy="3314700"/>
            </a:xfrm>
          </p:grpSpPr>
          <p:pic>
            <p:nvPicPr>
              <p:cNvPr id="42" name="Picture 41" descr="image.png">
                <a:extLst>
                  <a:ext uri="{FF2B5EF4-FFF2-40B4-BE49-F238E27FC236}">
                    <a16:creationId xmlns:a16="http://schemas.microsoft.com/office/drawing/2014/main" id="{59792A56-D606-3110-772A-CB02996A8E38}"/>
                  </a:ext>
                </a:extLst>
              </p:cNvPr>
              <p:cNvPicPr>
                <a:picLocks noChangeAspect="1"/>
              </p:cNvPicPr>
              <p:nvPr/>
            </p:nvPicPr>
            <p:blipFill>
              <a:blip r:embed="rId5"/>
              <a:stretch>
                <a:fillRect/>
              </a:stretch>
            </p:blipFill>
            <p:spPr>
              <a:xfrm>
                <a:off x="484064" y="2224087"/>
                <a:ext cx="3549699" cy="3314700"/>
              </a:xfrm>
              <a:prstGeom prst="rect">
                <a:avLst/>
              </a:prstGeom>
              <a:ln>
                <a:solidFill>
                  <a:schemeClr val="tx1"/>
                </a:solidFill>
              </a:ln>
            </p:spPr>
          </p:pic>
          <p:sp>
            <p:nvSpPr>
              <p:cNvPr id="6" name="TextBox 5"/>
              <p:cNvSpPr txBox="1"/>
              <p:nvPr/>
            </p:nvSpPr>
            <p:spPr>
              <a:xfrm>
                <a:off x="2870001" y="2424112"/>
                <a:ext cx="1051173" cy="126958"/>
              </a:xfrm>
              <a:prstGeom prst="rect">
                <a:avLst/>
              </a:prstGeom>
            </p:spPr>
            <p:txBody>
              <a:bodyPr wrap="square" lIns="0" tIns="0" rIns="0" bIns="0" anchor="t">
                <a:spAutoFit/>
              </a:bodyPr>
              <a:lstStyle/>
              <a:p>
                <a:r>
                  <a:rPr sz="825" b="1" i="0" u="none" dirty="0">
                    <a:solidFill>
                      <a:srgbClr val="64748B"/>
                    </a:solidFill>
                    <a:latin typeface="Inter"/>
                  </a:rPr>
                  <a:t>GEN 1 </a:t>
                </a:r>
                <a:r>
                  <a:rPr sz="825" b="1" dirty="0">
                    <a:solidFill>
                      <a:srgbClr val="64748B"/>
                    </a:solidFill>
                    <a:latin typeface="Inter"/>
                  </a:rPr>
                  <a:t>(</a:t>
                </a:r>
                <a:r>
                  <a:rPr lang="en-CA" sz="825" b="1" dirty="0">
                    <a:solidFill>
                      <a:srgbClr val="64748B"/>
                    </a:solidFill>
                    <a:latin typeface="Inter"/>
                  </a:rPr>
                  <a:t>Pre-2020</a:t>
                </a:r>
                <a:r>
                  <a:rPr sz="825" b="1" dirty="0">
                    <a:solidFill>
                      <a:srgbClr val="64748B"/>
                    </a:solidFill>
                    <a:latin typeface="Inter"/>
                  </a:rPr>
                  <a:t>)</a:t>
                </a:r>
              </a:p>
            </p:txBody>
          </p:sp>
          <p:sp>
            <p:nvSpPr>
              <p:cNvPr id="8" name="TextBox 7"/>
              <p:cNvSpPr txBox="1"/>
              <p:nvPr/>
            </p:nvSpPr>
            <p:spPr>
              <a:xfrm>
                <a:off x="847726" y="3114674"/>
                <a:ext cx="2050256" cy="341226"/>
              </a:xfrm>
              <a:prstGeom prst="rect">
                <a:avLst/>
              </a:prstGeom>
              <a:noFill/>
            </p:spPr>
            <p:txBody>
              <a:bodyPr wrap="square" lIns="0" tIns="0" rIns="0" bIns="0" anchor="t">
                <a:spAutoFit/>
              </a:bodyPr>
              <a:lstStyle/>
              <a:p>
                <a:endParaRPr sz="1650" b="0" i="0" u="none" dirty="0">
                  <a:solidFill>
                    <a:srgbClr val="1E293B"/>
                  </a:solidFill>
                  <a:latin typeface="Poppins SemiBold"/>
                </a:endParaRPr>
              </a:p>
            </p:txBody>
          </p:sp>
          <p:sp>
            <p:nvSpPr>
              <p:cNvPr id="9" name="TextBox 8"/>
              <p:cNvSpPr txBox="1"/>
              <p:nvPr/>
            </p:nvSpPr>
            <p:spPr>
              <a:xfrm>
                <a:off x="875473" y="3259371"/>
                <a:ext cx="2382304" cy="2233473"/>
              </a:xfrm>
              <a:prstGeom prst="rect">
                <a:avLst/>
              </a:prstGeom>
              <a:noFill/>
            </p:spPr>
            <p:txBody>
              <a:bodyPr wrap="square" lIns="0" tIns="0" rIns="0" bIns="0" anchor="t">
                <a:spAutoFit/>
              </a:bodyPr>
              <a:lstStyle/>
              <a:p>
                <a:r>
                  <a:rPr lang="en-CA" sz="1200" dirty="0"/>
                  <a:t>Syntax-aware suggestions using predefined language rules.</a:t>
                </a:r>
              </a:p>
              <a:p>
                <a:pPr marL="171450" lvl="0" indent="-171450">
                  <a:buFont typeface="Arial" panose="020B0604020202020204" pitchFamily="34" charset="0"/>
                  <a:buChar char="•"/>
                </a:pPr>
                <a:r>
                  <a:rPr lang="en-CA" sz="1200" dirty="0"/>
                  <a:t>Traditional IDE autocomplete </a:t>
                </a:r>
              </a:p>
              <a:p>
                <a:pPr marL="171450" lvl="0" indent="-171450">
                  <a:buFont typeface="Arial" panose="020B0604020202020204" pitchFamily="34" charset="0"/>
                  <a:buChar char="•"/>
                </a:pPr>
                <a:r>
                  <a:rPr lang="en-CA" sz="1200" dirty="0"/>
                  <a:t>Language &amp; syntax completion </a:t>
                </a:r>
              </a:p>
              <a:p>
                <a:pPr marL="171450" lvl="0" indent="-171450">
                  <a:buFont typeface="Arial" panose="020B0604020202020204" pitchFamily="34" charset="0"/>
                  <a:buChar char="•"/>
                </a:pPr>
                <a:r>
                  <a:rPr lang="en-CA" sz="1200" dirty="0"/>
                  <a:t>No understanding of developer intent</a:t>
                </a:r>
              </a:p>
            </p:txBody>
          </p:sp>
          <p:pic>
            <p:nvPicPr>
              <p:cNvPr id="18" name="Picture 17" descr="image.png"/>
              <p:cNvPicPr>
                <a:picLocks noChangeAspect="1"/>
              </p:cNvPicPr>
              <p:nvPr/>
            </p:nvPicPr>
            <p:blipFill>
              <a:blip r:embed="rId6"/>
              <a:stretch>
                <a:fillRect/>
              </a:stretch>
            </p:blipFill>
            <p:spPr>
              <a:xfrm>
                <a:off x="942975" y="2624137"/>
                <a:ext cx="266700" cy="209550"/>
              </a:xfrm>
              <a:prstGeom prst="rect">
                <a:avLst/>
              </a:prstGeom>
            </p:spPr>
          </p:pic>
        </p:grpSp>
        <p:sp>
          <p:nvSpPr>
            <p:cNvPr id="45" name="TextBox 44">
              <a:extLst>
                <a:ext uri="{FF2B5EF4-FFF2-40B4-BE49-F238E27FC236}">
                  <a16:creationId xmlns:a16="http://schemas.microsoft.com/office/drawing/2014/main" id="{68E7FD13-27F9-6384-38FE-0EA486019DD2}"/>
                </a:ext>
              </a:extLst>
            </p:cNvPr>
            <p:cNvSpPr txBox="1"/>
            <p:nvPr/>
          </p:nvSpPr>
          <p:spPr>
            <a:xfrm>
              <a:off x="336590" y="1989564"/>
              <a:ext cx="6372750" cy="276999"/>
            </a:xfrm>
            <a:prstGeom prst="rect">
              <a:avLst/>
            </a:prstGeom>
            <a:noFill/>
          </p:spPr>
          <p:txBody>
            <a:bodyPr wrap="square">
              <a:spAutoFit/>
            </a:bodyPr>
            <a:lstStyle/>
            <a:p>
              <a:r>
                <a:rPr lang="en-CA" sz="1200" b="1" dirty="0"/>
                <a:t>Rule-Based Autocomplete</a:t>
              </a:r>
            </a:p>
          </p:txBody>
        </p:sp>
      </p:grpSp>
      <p:grpSp>
        <p:nvGrpSpPr>
          <p:cNvPr id="55" name="Group 54">
            <a:extLst>
              <a:ext uri="{FF2B5EF4-FFF2-40B4-BE49-F238E27FC236}">
                <a16:creationId xmlns:a16="http://schemas.microsoft.com/office/drawing/2014/main" id="{5A1703F3-8C4F-1669-151D-EC8F9E82E73D}"/>
              </a:ext>
            </a:extLst>
          </p:cNvPr>
          <p:cNvGrpSpPr/>
          <p:nvPr/>
        </p:nvGrpSpPr>
        <p:grpSpPr>
          <a:xfrm>
            <a:off x="2116064" y="2741905"/>
            <a:ext cx="6211704" cy="2537303"/>
            <a:chOff x="238809" y="4078930"/>
            <a:chExt cx="6211704" cy="2537303"/>
          </a:xfrm>
        </p:grpSpPr>
        <p:grpSp>
          <p:nvGrpSpPr>
            <p:cNvPr id="47" name="Group 46">
              <a:extLst>
                <a:ext uri="{FF2B5EF4-FFF2-40B4-BE49-F238E27FC236}">
                  <a16:creationId xmlns:a16="http://schemas.microsoft.com/office/drawing/2014/main" id="{CA2E831F-070D-5FFD-48AC-AF8AA1AADC2B}"/>
                </a:ext>
              </a:extLst>
            </p:cNvPr>
            <p:cNvGrpSpPr/>
            <p:nvPr/>
          </p:nvGrpSpPr>
          <p:grpSpPr>
            <a:xfrm>
              <a:off x="238809" y="4078930"/>
              <a:ext cx="6211704" cy="2537303"/>
              <a:chOff x="150847" y="1462496"/>
              <a:chExt cx="6558493" cy="2466566"/>
            </a:xfrm>
          </p:grpSpPr>
          <p:grpSp>
            <p:nvGrpSpPr>
              <p:cNvPr id="48" name="Group 47">
                <a:extLst>
                  <a:ext uri="{FF2B5EF4-FFF2-40B4-BE49-F238E27FC236}">
                    <a16:creationId xmlns:a16="http://schemas.microsoft.com/office/drawing/2014/main" id="{E5570D52-2430-74E9-2E36-4E8BBF23AB47}"/>
                  </a:ext>
                </a:extLst>
              </p:cNvPr>
              <p:cNvGrpSpPr/>
              <p:nvPr/>
            </p:nvGrpSpPr>
            <p:grpSpPr>
              <a:xfrm>
                <a:off x="150847" y="1462496"/>
                <a:ext cx="2669456" cy="2466566"/>
                <a:chOff x="484064" y="2224086"/>
                <a:chExt cx="3549699" cy="3314700"/>
              </a:xfrm>
            </p:grpSpPr>
            <p:pic>
              <p:nvPicPr>
                <p:cNvPr id="50" name="Picture 49" descr="image.png">
                  <a:extLst>
                    <a:ext uri="{FF2B5EF4-FFF2-40B4-BE49-F238E27FC236}">
                      <a16:creationId xmlns:a16="http://schemas.microsoft.com/office/drawing/2014/main" id="{0B7E5E49-D836-2746-CD9C-C9E03B37095D}"/>
                    </a:ext>
                  </a:extLst>
                </p:cNvPr>
                <p:cNvPicPr>
                  <a:picLocks noChangeAspect="1"/>
                </p:cNvPicPr>
                <p:nvPr/>
              </p:nvPicPr>
              <p:blipFill>
                <a:blip r:embed="rId5"/>
                <a:stretch>
                  <a:fillRect/>
                </a:stretch>
              </p:blipFill>
              <p:spPr>
                <a:xfrm>
                  <a:off x="484064" y="2224086"/>
                  <a:ext cx="3549699" cy="3314700"/>
                </a:xfrm>
                <a:prstGeom prst="rect">
                  <a:avLst/>
                </a:prstGeom>
                <a:ln>
                  <a:solidFill>
                    <a:schemeClr val="tx1"/>
                  </a:solidFill>
                </a:ln>
              </p:spPr>
            </p:pic>
            <p:sp>
              <p:nvSpPr>
                <p:cNvPr id="51" name="TextBox 50">
                  <a:extLst>
                    <a:ext uri="{FF2B5EF4-FFF2-40B4-BE49-F238E27FC236}">
                      <a16:creationId xmlns:a16="http://schemas.microsoft.com/office/drawing/2014/main" id="{56DC4633-5321-0239-F1F5-7F03644200EE}"/>
                    </a:ext>
                  </a:extLst>
                </p:cNvPr>
                <p:cNvSpPr txBox="1"/>
                <p:nvPr/>
              </p:nvSpPr>
              <p:spPr>
                <a:xfrm>
                  <a:off x="2870001" y="2424112"/>
                  <a:ext cx="1051172" cy="165856"/>
                </a:xfrm>
                <a:prstGeom prst="rect">
                  <a:avLst/>
                </a:prstGeom>
              </p:spPr>
              <p:txBody>
                <a:bodyPr wrap="square" lIns="0" tIns="0" rIns="0" bIns="0" anchor="t">
                  <a:spAutoFit/>
                </a:bodyPr>
                <a:lstStyle/>
                <a:p>
                  <a:r>
                    <a:rPr lang="en-CA" sz="825" b="1" dirty="0">
                      <a:solidFill>
                        <a:srgbClr val="64748B"/>
                      </a:solidFill>
                      <a:latin typeface="Inter"/>
                    </a:rPr>
                    <a:t>GEN 2 (2021)</a:t>
                  </a:r>
                  <a:endParaRPr sz="825" b="1" dirty="0">
                    <a:solidFill>
                      <a:srgbClr val="64748B"/>
                    </a:solidFill>
                    <a:latin typeface="Inter"/>
                  </a:endParaRPr>
                </a:p>
              </p:txBody>
            </p:sp>
            <p:sp>
              <p:nvSpPr>
                <p:cNvPr id="52" name="TextBox 51">
                  <a:extLst>
                    <a:ext uri="{FF2B5EF4-FFF2-40B4-BE49-F238E27FC236}">
                      <a16:creationId xmlns:a16="http://schemas.microsoft.com/office/drawing/2014/main" id="{27E2FB41-D5F7-E55E-0146-D96CE66322AA}"/>
                    </a:ext>
                  </a:extLst>
                </p:cNvPr>
                <p:cNvSpPr txBox="1"/>
                <p:nvPr/>
              </p:nvSpPr>
              <p:spPr>
                <a:xfrm>
                  <a:off x="847726" y="3114674"/>
                  <a:ext cx="2050256" cy="341226"/>
                </a:xfrm>
                <a:prstGeom prst="rect">
                  <a:avLst/>
                </a:prstGeom>
                <a:noFill/>
              </p:spPr>
              <p:txBody>
                <a:bodyPr wrap="square" lIns="0" tIns="0" rIns="0" bIns="0" anchor="t">
                  <a:spAutoFit/>
                </a:bodyPr>
                <a:lstStyle/>
                <a:p>
                  <a:endParaRPr sz="1650" b="0" i="0" u="none" dirty="0">
                    <a:solidFill>
                      <a:srgbClr val="1E293B"/>
                    </a:solidFill>
                    <a:latin typeface="Poppins SemiBold"/>
                  </a:endParaRPr>
                </a:p>
              </p:txBody>
            </p:sp>
            <p:sp>
              <p:nvSpPr>
                <p:cNvPr id="53" name="TextBox 52">
                  <a:extLst>
                    <a:ext uri="{FF2B5EF4-FFF2-40B4-BE49-F238E27FC236}">
                      <a16:creationId xmlns:a16="http://schemas.microsoft.com/office/drawing/2014/main" id="{19328D35-1FCA-4E5A-D954-B800DFA4E4CA}"/>
                    </a:ext>
                  </a:extLst>
                </p:cNvPr>
                <p:cNvSpPr txBox="1"/>
                <p:nvPr/>
              </p:nvSpPr>
              <p:spPr>
                <a:xfrm>
                  <a:off x="875474" y="3259370"/>
                  <a:ext cx="2382303" cy="1929962"/>
                </a:xfrm>
                <a:prstGeom prst="rect">
                  <a:avLst/>
                </a:prstGeom>
                <a:noFill/>
              </p:spPr>
              <p:txBody>
                <a:bodyPr wrap="square" lIns="0" tIns="0" rIns="0" bIns="0" anchor="t">
                  <a:spAutoFit/>
                </a:bodyPr>
                <a:lstStyle/>
                <a:p>
                  <a:r>
                    <a:rPr lang="en-CA" sz="1200" dirty="0"/>
                    <a:t>Large Language Models introduced natural language code generation.</a:t>
                  </a:r>
                </a:p>
                <a:p>
                  <a:pPr marL="171450" lvl="0" indent="-171450">
                    <a:buFont typeface="Arial" panose="020B0604020202020204" pitchFamily="34" charset="0"/>
                    <a:buChar char="•"/>
                  </a:pPr>
                  <a:r>
                    <a:rPr lang="en-CA" sz="1200" dirty="0"/>
                    <a:t>GitHub Copilot </a:t>
                  </a:r>
                </a:p>
                <a:p>
                  <a:pPr marL="171450" lvl="0" indent="-171450">
                    <a:buFont typeface="Arial" panose="020B0604020202020204" pitchFamily="34" charset="0"/>
                    <a:buChar char="•"/>
                  </a:pPr>
                  <a:r>
                    <a:rPr lang="en-CA" sz="1200" dirty="0"/>
                    <a:t>Prompt-to-code generation </a:t>
                  </a:r>
                </a:p>
                <a:p>
                  <a:pPr marL="171450" lvl="0" indent="-171450">
                    <a:buFont typeface="Arial" panose="020B0604020202020204" pitchFamily="34" charset="0"/>
                    <a:buChar char="•"/>
                  </a:pPr>
                  <a:r>
                    <a:rPr lang="en-CA" sz="1200" dirty="0"/>
                    <a:t>AI-assisted code completion</a:t>
                  </a:r>
                </a:p>
              </p:txBody>
            </p:sp>
            <p:pic>
              <p:nvPicPr>
                <p:cNvPr id="54" name="Picture 53" descr="image.png">
                  <a:extLst>
                    <a:ext uri="{FF2B5EF4-FFF2-40B4-BE49-F238E27FC236}">
                      <a16:creationId xmlns:a16="http://schemas.microsoft.com/office/drawing/2014/main" id="{825A3958-DE1E-2469-60DB-CE44A124AE10}"/>
                    </a:ext>
                  </a:extLst>
                </p:cNvPr>
                <p:cNvPicPr>
                  <a:picLocks noChangeAspect="1"/>
                </p:cNvPicPr>
                <p:nvPr/>
              </p:nvPicPr>
              <p:blipFill>
                <a:blip r:embed="rId6"/>
                <a:stretch>
                  <a:fillRect/>
                </a:stretch>
              </p:blipFill>
              <p:spPr>
                <a:xfrm>
                  <a:off x="942975" y="2624137"/>
                  <a:ext cx="266700" cy="209550"/>
                </a:xfrm>
                <a:prstGeom prst="rect">
                  <a:avLst/>
                </a:prstGeom>
              </p:spPr>
            </p:pic>
          </p:grpSp>
          <p:sp>
            <p:nvSpPr>
              <p:cNvPr id="49" name="TextBox 48">
                <a:extLst>
                  <a:ext uri="{FF2B5EF4-FFF2-40B4-BE49-F238E27FC236}">
                    <a16:creationId xmlns:a16="http://schemas.microsoft.com/office/drawing/2014/main" id="{69F7028A-7C81-7BFC-C94C-69ACCBF24876}"/>
                  </a:ext>
                </a:extLst>
              </p:cNvPr>
              <p:cNvSpPr txBox="1"/>
              <p:nvPr/>
            </p:nvSpPr>
            <p:spPr>
              <a:xfrm>
                <a:off x="336590" y="1989564"/>
                <a:ext cx="6372750" cy="269277"/>
              </a:xfrm>
              <a:prstGeom prst="rect">
                <a:avLst/>
              </a:prstGeom>
              <a:noFill/>
            </p:spPr>
            <p:txBody>
              <a:bodyPr wrap="square">
                <a:spAutoFit/>
              </a:bodyPr>
              <a:lstStyle/>
              <a:p>
                <a:r>
                  <a:rPr lang="en-CA" sz="1200" b="1" dirty="0"/>
                  <a:t>LLM-Powered Coding</a:t>
                </a:r>
              </a:p>
            </p:txBody>
          </p:sp>
        </p:grpSp>
        <p:pic>
          <p:nvPicPr>
            <p:cNvPr id="22" name="Picture 21" descr="image.png"/>
            <p:cNvPicPr>
              <a:picLocks noChangeAspect="1"/>
            </p:cNvPicPr>
            <p:nvPr/>
          </p:nvPicPr>
          <p:blipFill>
            <a:blip r:embed="rId7"/>
            <a:stretch>
              <a:fillRect/>
            </a:stretch>
          </p:blipFill>
          <p:spPr>
            <a:xfrm>
              <a:off x="497831" y="4327513"/>
              <a:ext cx="303189" cy="238220"/>
            </a:xfrm>
            <a:prstGeom prst="rect">
              <a:avLst/>
            </a:prstGeom>
          </p:spPr>
        </p:pic>
      </p:grpSp>
      <p:grpSp>
        <p:nvGrpSpPr>
          <p:cNvPr id="72" name="Group 71">
            <a:extLst>
              <a:ext uri="{FF2B5EF4-FFF2-40B4-BE49-F238E27FC236}">
                <a16:creationId xmlns:a16="http://schemas.microsoft.com/office/drawing/2014/main" id="{22461AB0-8923-DC8B-06A7-39A0DEC83EF8}"/>
              </a:ext>
            </a:extLst>
          </p:cNvPr>
          <p:cNvGrpSpPr/>
          <p:nvPr/>
        </p:nvGrpSpPr>
        <p:grpSpPr>
          <a:xfrm>
            <a:off x="4091666" y="4085414"/>
            <a:ext cx="6221959" cy="2537303"/>
            <a:chOff x="150847" y="4087664"/>
            <a:chExt cx="6221959" cy="2537303"/>
          </a:xfrm>
        </p:grpSpPr>
        <p:grpSp>
          <p:nvGrpSpPr>
            <p:cNvPr id="56" name="Group 55">
              <a:extLst>
                <a:ext uri="{FF2B5EF4-FFF2-40B4-BE49-F238E27FC236}">
                  <a16:creationId xmlns:a16="http://schemas.microsoft.com/office/drawing/2014/main" id="{799F66BC-80A1-1618-4747-59C5CE348698}"/>
                </a:ext>
              </a:extLst>
            </p:cNvPr>
            <p:cNvGrpSpPr/>
            <p:nvPr/>
          </p:nvGrpSpPr>
          <p:grpSpPr>
            <a:xfrm>
              <a:off x="150847" y="4087664"/>
              <a:ext cx="6221959" cy="2537303"/>
              <a:chOff x="140020" y="1478553"/>
              <a:chExt cx="6569320" cy="2466566"/>
            </a:xfrm>
          </p:grpSpPr>
          <p:grpSp>
            <p:nvGrpSpPr>
              <p:cNvPr id="57" name="Group 56">
                <a:extLst>
                  <a:ext uri="{FF2B5EF4-FFF2-40B4-BE49-F238E27FC236}">
                    <a16:creationId xmlns:a16="http://schemas.microsoft.com/office/drawing/2014/main" id="{A4498735-6934-9D28-BADA-CBFE56DAD7E0}"/>
                  </a:ext>
                </a:extLst>
              </p:cNvPr>
              <p:cNvGrpSpPr/>
              <p:nvPr/>
            </p:nvGrpSpPr>
            <p:grpSpPr>
              <a:xfrm>
                <a:off x="140020" y="1478553"/>
                <a:ext cx="2669456" cy="2466566"/>
                <a:chOff x="469667" y="2245665"/>
                <a:chExt cx="3549699" cy="3314700"/>
              </a:xfrm>
            </p:grpSpPr>
            <p:pic>
              <p:nvPicPr>
                <p:cNvPr id="59" name="Picture 58" descr="image.png">
                  <a:extLst>
                    <a:ext uri="{FF2B5EF4-FFF2-40B4-BE49-F238E27FC236}">
                      <a16:creationId xmlns:a16="http://schemas.microsoft.com/office/drawing/2014/main" id="{87639466-DE60-76F3-6A37-2F9FC287AAEA}"/>
                    </a:ext>
                  </a:extLst>
                </p:cNvPr>
                <p:cNvPicPr>
                  <a:picLocks noChangeAspect="1"/>
                </p:cNvPicPr>
                <p:nvPr/>
              </p:nvPicPr>
              <p:blipFill>
                <a:blip r:embed="rId5"/>
                <a:stretch>
                  <a:fillRect/>
                </a:stretch>
              </p:blipFill>
              <p:spPr>
                <a:xfrm>
                  <a:off x="469667" y="2245665"/>
                  <a:ext cx="3549699" cy="3314700"/>
                </a:xfrm>
                <a:prstGeom prst="rect">
                  <a:avLst/>
                </a:prstGeom>
                <a:ln>
                  <a:solidFill>
                    <a:schemeClr val="tx1"/>
                  </a:solidFill>
                </a:ln>
              </p:spPr>
            </p:pic>
            <p:sp>
              <p:nvSpPr>
                <p:cNvPr id="60" name="TextBox 59">
                  <a:extLst>
                    <a:ext uri="{FF2B5EF4-FFF2-40B4-BE49-F238E27FC236}">
                      <a16:creationId xmlns:a16="http://schemas.microsoft.com/office/drawing/2014/main" id="{0B55B2D8-B40E-47A7-0678-4BC1C05343F8}"/>
                    </a:ext>
                  </a:extLst>
                </p:cNvPr>
                <p:cNvSpPr txBox="1"/>
                <p:nvPr/>
              </p:nvSpPr>
              <p:spPr>
                <a:xfrm>
                  <a:off x="2642980" y="2424112"/>
                  <a:ext cx="1278194" cy="165856"/>
                </a:xfrm>
                <a:prstGeom prst="rect">
                  <a:avLst/>
                </a:prstGeom>
              </p:spPr>
              <p:txBody>
                <a:bodyPr wrap="square" lIns="0" tIns="0" rIns="0" bIns="0" anchor="t">
                  <a:spAutoFit/>
                </a:bodyPr>
                <a:lstStyle/>
                <a:p>
                  <a:r>
                    <a:rPr lang="en-CA" sz="825" b="1" dirty="0">
                      <a:solidFill>
                        <a:srgbClr val="64748B"/>
                      </a:solidFill>
                      <a:latin typeface="Inter"/>
                    </a:rPr>
                    <a:t>GEN 3 (2023–2024)</a:t>
                  </a:r>
                  <a:endParaRPr sz="825" b="1" dirty="0">
                    <a:solidFill>
                      <a:srgbClr val="64748B"/>
                    </a:solidFill>
                    <a:latin typeface="Inter"/>
                  </a:endParaRPr>
                </a:p>
              </p:txBody>
            </p:sp>
            <p:sp>
              <p:nvSpPr>
                <p:cNvPr id="61" name="TextBox 60">
                  <a:extLst>
                    <a:ext uri="{FF2B5EF4-FFF2-40B4-BE49-F238E27FC236}">
                      <a16:creationId xmlns:a16="http://schemas.microsoft.com/office/drawing/2014/main" id="{C942CC4C-E7E2-7D88-8E61-A674666CCC12}"/>
                    </a:ext>
                  </a:extLst>
                </p:cNvPr>
                <p:cNvSpPr txBox="1"/>
                <p:nvPr/>
              </p:nvSpPr>
              <p:spPr>
                <a:xfrm>
                  <a:off x="847726" y="3114674"/>
                  <a:ext cx="2050256" cy="341226"/>
                </a:xfrm>
                <a:prstGeom prst="rect">
                  <a:avLst/>
                </a:prstGeom>
                <a:noFill/>
              </p:spPr>
              <p:txBody>
                <a:bodyPr wrap="square" lIns="0" tIns="0" rIns="0" bIns="0" anchor="t">
                  <a:spAutoFit/>
                </a:bodyPr>
                <a:lstStyle/>
                <a:p>
                  <a:endParaRPr sz="1650" b="0" i="0" u="none" dirty="0">
                    <a:solidFill>
                      <a:srgbClr val="1E293B"/>
                    </a:solidFill>
                    <a:latin typeface="Poppins SemiBold"/>
                  </a:endParaRPr>
                </a:p>
              </p:txBody>
            </p:sp>
            <p:sp>
              <p:nvSpPr>
                <p:cNvPr id="62" name="TextBox 61">
                  <a:extLst>
                    <a:ext uri="{FF2B5EF4-FFF2-40B4-BE49-F238E27FC236}">
                      <a16:creationId xmlns:a16="http://schemas.microsoft.com/office/drawing/2014/main" id="{F4EA4F1B-236C-9485-B493-68E7E8F9FD47}"/>
                    </a:ext>
                  </a:extLst>
                </p:cNvPr>
                <p:cNvSpPr txBox="1"/>
                <p:nvPr/>
              </p:nvSpPr>
              <p:spPr>
                <a:xfrm>
                  <a:off x="875473" y="3259370"/>
                  <a:ext cx="2382303" cy="1688717"/>
                </a:xfrm>
                <a:prstGeom prst="rect">
                  <a:avLst/>
                </a:prstGeom>
                <a:noFill/>
              </p:spPr>
              <p:txBody>
                <a:bodyPr wrap="square" lIns="0" tIns="0" rIns="0" bIns="0" anchor="t">
                  <a:spAutoFit/>
                </a:bodyPr>
                <a:lstStyle/>
                <a:p>
                  <a:r>
                    <a:rPr lang="en-CA" sz="1200" dirty="0"/>
                    <a:t>AI understands your project, not just the current file.</a:t>
                  </a:r>
                </a:p>
                <a:p>
                  <a:pPr marL="171450" lvl="0" indent="-171450">
                    <a:buFont typeface="Arial" panose="020B0604020202020204" pitchFamily="34" charset="0"/>
                    <a:buChar char="•"/>
                  </a:pPr>
                  <a:r>
                    <a:rPr lang="en-CA" sz="1200" dirty="0"/>
                    <a:t>Chat-based coding </a:t>
                  </a:r>
                </a:p>
                <a:p>
                  <a:pPr marL="171450" lvl="0" indent="-171450">
                    <a:buFont typeface="Arial" panose="020B0604020202020204" pitchFamily="34" charset="0"/>
                    <a:buChar char="•"/>
                  </a:pPr>
                  <a:r>
                    <a:rPr lang="en-CA" sz="1200" dirty="0"/>
                    <a:t>Project-wide context </a:t>
                  </a:r>
                </a:p>
                <a:p>
                  <a:pPr marL="171450" lvl="0" indent="-171450">
                    <a:buFont typeface="Arial" panose="020B0604020202020204" pitchFamily="34" charset="0"/>
                    <a:buChar char="•"/>
                  </a:pPr>
                  <a:r>
                    <a:rPr lang="en-CA" sz="1200" dirty="0"/>
                    <a:t>Multi-file editing</a:t>
                  </a:r>
                </a:p>
                <a:p>
                  <a:endParaRPr lang="en-CA" sz="1200" dirty="0"/>
                </a:p>
              </p:txBody>
            </p:sp>
            <p:pic>
              <p:nvPicPr>
                <p:cNvPr id="63" name="Picture 62" descr="image.png">
                  <a:extLst>
                    <a:ext uri="{FF2B5EF4-FFF2-40B4-BE49-F238E27FC236}">
                      <a16:creationId xmlns:a16="http://schemas.microsoft.com/office/drawing/2014/main" id="{F07AC09B-75D4-9B04-66C0-F8EF928B59AB}"/>
                    </a:ext>
                  </a:extLst>
                </p:cNvPr>
                <p:cNvPicPr>
                  <a:picLocks noChangeAspect="1"/>
                </p:cNvPicPr>
                <p:nvPr/>
              </p:nvPicPr>
              <p:blipFill>
                <a:blip r:embed="rId6"/>
                <a:stretch>
                  <a:fillRect/>
                </a:stretch>
              </p:blipFill>
              <p:spPr>
                <a:xfrm>
                  <a:off x="942975" y="2624137"/>
                  <a:ext cx="266700" cy="209550"/>
                </a:xfrm>
                <a:prstGeom prst="rect">
                  <a:avLst/>
                </a:prstGeom>
              </p:spPr>
            </p:pic>
          </p:grpSp>
          <p:sp>
            <p:nvSpPr>
              <p:cNvPr id="58" name="TextBox 57">
                <a:extLst>
                  <a:ext uri="{FF2B5EF4-FFF2-40B4-BE49-F238E27FC236}">
                    <a16:creationId xmlns:a16="http://schemas.microsoft.com/office/drawing/2014/main" id="{FE123B6A-667D-83A7-A8DA-E39D408C49FC}"/>
                  </a:ext>
                </a:extLst>
              </p:cNvPr>
              <p:cNvSpPr txBox="1"/>
              <p:nvPr/>
            </p:nvSpPr>
            <p:spPr>
              <a:xfrm>
                <a:off x="336590" y="1989564"/>
                <a:ext cx="6372750" cy="269277"/>
              </a:xfrm>
              <a:prstGeom prst="rect">
                <a:avLst/>
              </a:prstGeom>
              <a:noFill/>
            </p:spPr>
            <p:txBody>
              <a:bodyPr wrap="square">
                <a:spAutoFit/>
              </a:bodyPr>
              <a:lstStyle/>
              <a:p>
                <a:r>
                  <a:rPr lang="en-CA" sz="1200" b="1" dirty="0"/>
                  <a:t>Context-Aware Assistants</a:t>
                </a:r>
              </a:p>
            </p:txBody>
          </p:sp>
        </p:grpSp>
        <p:pic>
          <p:nvPicPr>
            <p:cNvPr id="71" name="Graphic 70" descr="Artificial Intelligence with solid fill">
              <a:extLst>
                <a:ext uri="{FF2B5EF4-FFF2-40B4-BE49-F238E27FC236}">
                  <a16:creationId xmlns:a16="http://schemas.microsoft.com/office/drawing/2014/main" id="{430BC1CE-6B5B-71BF-59D9-5D92C0E2698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68670" y="4166216"/>
              <a:ext cx="422313" cy="422313"/>
            </a:xfrm>
            <a:prstGeom prst="rect">
              <a:avLst/>
            </a:prstGeom>
          </p:spPr>
        </p:pic>
      </p:grpSp>
      <p:grpSp>
        <p:nvGrpSpPr>
          <p:cNvPr id="82" name="Group 81">
            <a:extLst>
              <a:ext uri="{FF2B5EF4-FFF2-40B4-BE49-F238E27FC236}">
                <a16:creationId xmlns:a16="http://schemas.microsoft.com/office/drawing/2014/main" id="{B7BD6E34-CDBA-92CA-8E1D-24F374F81605}"/>
              </a:ext>
            </a:extLst>
          </p:cNvPr>
          <p:cNvGrpSpPr/>
          <p:nvPr/>
        </p:nvGrpSpPr>
        <p:grpSpPr>
          <a:xfrm>
            <a:off x="7015128" y="1837819"/>
            <a:ext cx="6199715" cy="2537303"/>
            <a:chOff x="2968191" y="4054029"/>
            <a:chExt cx="6199715" cy="2537303"/>
          </a:xfrm>
        </p:grpSpPr>
        <p:grpSp>
          <p:nvGrpSpPr>
            <p:cNvPr id="73" name="Group 72">
              <a:extLst>
                <a:ext uri="{FF2B5EF4-FFF2-40B4-BE49-F238E27FC236}">
                  <a16:creationId xmlns:a16="http://schemas.microsoft.com/office/drawing/2014/main" id="{9DA85C3E-30D7-E9C5-6F6C-C23CD96D9FE4}"/>
                </a:ext>
              </a:extLst>
            </p:cNvPr>
            <p:cNvGrpSpPr/>
            <p:nvPr/>
          </p:nvGrpSpPr>
          <p:grpSpPr>
            <a:xfrm>
              <a:off x="2968191" y="4054029"/>
              <a:ext cx="6199715" cy="2537303"/>
              <a:chOff x="150847" y="1462496"/>
              <a:chExt cx="6545835" cy="2466566"/>
            </a:xfrm>
          </p:grpSpPr>
          <p:grpSp>
            <p:nvGrpSpPr>
              <p:cNvPr id="74" name="Group 73">
                <a:extLst>
                  <a:ext uri="{FF2B5EF4-FFF2-40B4-BE49-F238E27FC236}">
                    <a16:creationId xmlns:a16="http://schemas.microsoft.com/office/drawing/2014/main" id="{25BAD6AE-B95B-AA43-1BD7-E22864755419}"/>
                  </a:ext>
                </a:extLst>
              </p:cNvPr>
              <p:cNvGrpSpPr/>
              <p:nvPr/>
            </p:nvGrpSpPr>
            <p:grpSpPr>
              <a:xfrm>
                <a:off x="150847" y="1462496"/>
                <a:ext cx="2820307" cy="2466566"/>
                <a:chOff x="484064" y="2224087"/>
                <a:chExt cx="3750293" cy="3314700"/>
              </a:xfrm>
            </p:grpSpPr>
            <p:pic>
              <p:nvPicPr>
                <p:cNvPr id="76" name="Picture 75" descr="image.png">
                  <a:extLst>
                    <a:ext uri="{FF2B5EF4-FFF2-40B4-BE49-F238E27FC236}">
                      <a16:creationId xmlns:a16="http://schemas.microsoft.com/office/drawing/2014/main" id="{0F655F83-B207-4BD7-3176-BCB8E2518E74}"/>
                    </a:ext>
                  </a:extLst>
                </p:cNvPr>
                <p:cNvPicPr>
                  <a:picLocks noChangeAspect="1"/>
                </p:cNvPicPr>
                <p:nvPr/>
              </p:nvPicPr>
              <p:blipFill>
                <a:blip r:embed="rId5"/>
                <a:stretch>
                  <a:fillRect/>
                </a:stretch>
              </p:blipFill>
              <p:spPr>
                <a:xfrm>
                  <a:off x="484064" y="2224087"/>
                  <a:ext cx="3549699" cy="3314700"/>
                </a:xfrm>
                <a:prstGeom prst="rect">
                  <a:avLst/>
                </a:prstGeom>
                <a:ln>
                  <a:solidFill>
                    <a:schemeClr val="tx1"/>
                  </a:solidFill>
                </a:ln>
              </p:spPr>
            </p:pic>
            <p:sp>
              <p:nvSpPr>
                <p:cNvPr id="77" name="TextBox 76">
                  <a:extLst>
                    <a:ext uri="{FF2B5EF4-FFF2-40B4-BE49-F238E27FC236}">
                      <a16:creationId xmlns:a16="http://schemas.microsoft.com/office/drawing/2014/main" id="{CF9B44BF-3BD0-5A5E-F15E-B701D8E6121B}"/>
                    </a:ext>
                  </a:extLst>
                </p:cNvPr>
                <p:cNvSpPr txBox="1"/>
                <p:nvPr/>
              </p:nvSpPr>
              <p:spPr>
                <a:xfrm>
                  <a:off x="2549518" y="2431762"/>
                  <a:ext cx="1684839" cy="165856"/>
                </a:xfrm>
                <a:prstGeom prst="rect">
                  <a:avLst/>
                </a:prstGeom>
              </p:spPr>
              <p:txBody>
                <a:bodyPr wrap="square" lIns="0" tIns="0" rIns="0" bIns="0" anchor="t">
                  <a:spAutoFit/>
                </a:bodyPr>
                <a:lstStyle/>
                <a:p>
                  <a:r>
                    <a:rPr lang="en-CA" sz="825" b="1" dirty="0">
                      <a:solidFill>
                        <a:srgbClr val="64748B"/>
                      </a:solidFill>
                      <a:latin typeface="Inter"/>
                    </a:rPr>
                    <a:t>GEN 4 (2025–2026)</a:t>
                  </a:r>
                  <a:endParaRPr sz="825" b="1" dirty="0">
                    <a:solidFill>
                      <a:srgbClr val="64748B"/>
                    </a:solidFill>
                    <a:latin typeface="Inter"/>
                  </a:endParaRPr>
                </a:p>
              </p:txBody>
            </p:sp>
            <p:sp>
              <p:nvSpPr>
                <p:cNvPr id="78" name="TextBox 77">
                  <a:extLst>
                    <a:ext uri="{FF2B5EF4-FFF2-40B4-BE49-F238E27FC236}">
                      <a16:creationId xmlns:a16="http://schemas.microsoft.com/office/drawing/2014/main" id="{5024F241-1603-2AA4-A932-CD9B1BC96FED}"/>
                    </a:ext>
                  </a:extLst>
                </p:cNvPr>
                <p:cNvSpPr txBox="1"/>
                <p:nvPr/>
              </p:nvSpPr>
              <p:spPr>
                <a:xfrm>
                  <a:off x="847726" y="3114674"/>
                  <a:ext cx="2050256" cy="341226"/>
                </a:xfrm>
                <a:prstGeom prst="rect">
                  <a:avLst/>
                </a:prstGeom>
                <a:noFill/>
              </p:spPr>
              <p:txBody>
                <a:bodyPr wrap="square" lIns="0" tIns="0" rIns="0" bIns="0" anchor="t">
                  <a:spAutoFit/>
                </a:bodyPr>
                <a:lstStyle/>
                <a:p>
                  <a:endParaRPr sz="1650" b="0" i="0" u="none" dirty="0">
                    <a:solidFill>
                      <a:srgbClr val="1E293B"/>
                    </a:solidFill>
                    <a:latin typeface="Poppins SemiBold"/>
                  </a:endParaRPr>
                </a:p>
              </p:txBody>
            </p:sp>
            <p:sp>
              <p:nvSpPr>
                <p:cNvPr id="79" name="TextBox 78">
                  <a:extLst>
                    <a:ext uri="{FF2B5EF4-FFF2-40B4-BE49-F238E27FC236}">
                      <a16:creationId xmlns:a16="http://schemas.microsoft.com/office/drawing/2014/main" id="{60C7DAE0-083A-152F-F7A2-B428B14E092C}"/>
                    </a:ext>
                  </a:extLst>
                </p:cNvPr>
                <p:cNvSpPr txBox="1"/>
                <p:nvPr/>
              </p:nvSpPr>
              <p:spPr>
                <a:xfrm>
                  <a:off x="875472" y="3259371"/>
                  <a:ext cx="2382304" cy="1447472"/>
                </a:xfrm>
                <a:prstGeom prst="rect">
                  <a:avLst/>
                </a:prstGeom>
                <a:noFill/>
              </p:spPr>
              <p:txBody>
                <a:bodyPr wrap="square" lIns="0" tIns="0" rIns="0" bIns="0" anchor="t">
                  <a:spAutoFit/>
                </a:bodyPr>
                <a:lstStyle/>
                <a:p>
                  <a:r>
                    <a:rPr lang="en-CA" sz="1200" dirty="0"/>
                    <a:t>AI autonomously executes development tasks from start to finish.</a:t>
                  </a:r>
                </a:p>
                <a:p>
                  <a:pPr marL="171450" lvl="0" indent="-171450">
                    <a:buFont typeface="Arial" panose="020B0604020202020204" pitchFamily="34" charset="0"/>
                    <a:buChar char="•"/>
                  </a:pPr>
                  <a:r>
                    <a:rPr lang="en-CA" sz="1200" dirty="0"/>
                    <a:t>Autonomous coding </a:t>
                  </a:r>
                </a:p>
                <a:p>
                  <a:pPr marL="171450" lvl="0" indent="-171450">
                    <a:buFont typeface="Arial" panose="020B0604020202020204" pitchFamily="34" charset="0"/>
                    <a:buChar char="•"/>
                  </a:pPr>
                  <a:r>
                    <a:rPr lang="en-CA" sz="1200" dirty="0"/>
                    <a:t>Testing &amp; debugging </a:t>
                  </a:r>
                </a:p>
                <a:p>
                  <a:pPr marL="171450" lvl="0" indent="-171450">
                    <a:buFont typeface="Arial" panose="020B0604020202020204" pitchFamily="34" charset="0"/>
                    <a:buChar char="•"/>
                  </a:pPr>
                  <a:r>
                    <a:rPr lang="en-CA" sz="1200" dirty="0"/>
                    <a:t>Workflow automation</a:t>
                  </a:r>
                </a:p>
              </p:txBody>
            </p:sp>
            <p:pic>
              <p:nvPicPr>
                <p:cNvPr id="80" name="Picture 79" descr="image.png">
                  <a:extLst>
                    <a:ext uri="{FF2B5EF4-FFF2-40B4-BE49-F238E27FC236}">
                      <a16:creationId xmlns:a16="http://schemas.microsoft.com/office/drawing/2014/main" id="{0BA3CC05-748F-4350-560A-B3218FCEE193}"/>
                    </a:ext>
                  </a:extLst>
                </p:cNvPr>
                <p:cNvPicPr>
                  <a:picLocks noChangeAspect="1"/>
                </p:cNvPicPr>
                <p:nvPr/>
              </p:nvPicPr>
              <p:blipFill>
                <a:blip r:embed="rId6"/>
                <a:stretch>
                  <a:fillRect/>
                </a:stretch>
              </p:blipFill>
              <p:spPr>
                <a:xfrm>
                  <a:off x="942975" y="2624137"/>
                  <a:ext cx="266700" cy="209550"/>
                </a:xfrm>
                <a:prstGeom prst="rect">
                  <a:avLst/>
                </a:prstGeom>
              </p:spPr>
            </p:pic>
          </p:grpSp>
          <p:sp>
            <p:nvSpPr>
              <p:cNvPr id="75" name="TextBox 74">
                <a:extLst>
                  <a:ext uri="{FF2B5EF4-FFF2-40B4-BE49-F238E27FC236}">
                    <a16:creationId xmlns:a16="http://schemas.microsoft.com/office/drawing/2014/main" id="{D4C593A4-BDDC-FDDC-75BE-18D8772FC5D4}"/>
                  </a:ext>
                </a:extLst>
              </p:cNvPr>
              <p:cNvSpPr txBox="1"/>
              <p:nvPr/>
            </p:nvSpPr>
            <p:spPr>
              <a:xfrm>
                <a:off x="323932" y="2009898"/>
                <a:ext cx="6372750" cy="269277"/>
              </a:xfrm>
              <a:prstGeom prst="rect">
                <a:avLst/>
              </a:prstGeom>
              <a:noFill/>
            </p:spPr>
            <p:txBody>
              <a:bodyPr wrap="square">
                <a:spAutoFit/>
              </a:bodyPr>
              <a:lstStyle/>
              <a:p>
                <a:r>
                  <a:rPr lang="en-CA" sz="1200" b="1" dirty="0"/>
                  <a:t>Agentic AI</a:t>
                </a:r>
              </a:p>
            </p:txBody>
          </p:sp>
        </p:grpSp>
        <p:grpSp>
          <p:nvGrpSpPr>
            <p:cNvPr id="81" name="Group 80">
              <a:extLst>
                <a:ext uri="{FF2B5EF4-FFF2-40B4-BE49-F238E27FC236}">
                  <a16:creationId xmlns:a16="http://schemas.microsoft.com/office/drawing/2014/main" id="{9044AD0C-4832-462E-698E-2CEABFE7B747}"/>
                </a:ext>
              </a:extLst>
            </p:cNvPr>
            <p:cNvGrpSpPr/>
            <p:nvPr/>
          </p:nvGrpSpPr>
          <p:grpSpPr>
            <a:xfrm>
              <a:off x="3223858" y="4149193"/>
              <a:ext cx="457200" cy="480654"/>
              <a:chOff x="8337649" y="2509837"/>
              <a:chExt cx="457200" cy="457200"/>
            </a:xfrm>
          </p:grpSpPr>
          <p:pic>
            <p:nvPicPr>
              <p:cNvPr id="15" name="Picture 14" descr="image.png"/>
              <p:cNvPicPr>
                <a:picLocks noChangeAspect="1"/>
              </p:cNvPicPr>
              <p:nvPr/>
            </p:nvPicPr>
            <p:blipFill>
              <a:blip r:embed="rId9"/>
              <a:stretch>
                <a:fillRect/>
              </a:stretch>
            </p:blipFill>
            <p:spPr>
              <a:xfrm>
                <a:off x="8337649" y="2509837"/>
                <a:ext cx="457200" cy="457200"/>
              </a:xfrm>
              <a:prstGeom prst="rect">
                <a:avLst/>
              </a:prstGeom>
            </p:spPr>
          </p:pic>
          <p:pic>
            <p:nvPicPr>
              <p:cNvPr id="26" name="Picture 25" descr="image.png"/>
              <p:cNvPicPr>
                <a:picLocks noChangeAspect="1"/>
              </p:cNvPicPr>
              <p:nvPr/>
            </p:nvPicPr>
            <p:blipFill>
              <a:blip r:embed="rId10"/>
              <a:stretch>
                <a:fillRect/>
              </a:stretch>
            </p:blipFill>
            <p:spPr>
              <a:xfrm>
                <a:off x="8414318" y="2627387"/>
                <a:ext cx="266700" cy="209550"/>
              </a:xfrm>
              <a:prstGeom prst="rect">
                <a:avLst/>
              </a:prstGeom>
            </p:spPr>
          </p:pic>
        </p:grpSp>
      </p:grpSp>
    </p:spTree>
  </p:cSld>
  <p:clrMapOvr>
    <a:masterClrMapping/>
  </p:clrMapOvr>
  <mc:AlternateContent xmlns:mc="http://schemas.openxmlformats.org/markup-compatibility/2006" xmlns:p14="http://schemas.microsoft.com/office/powerpoint/2010/main">
    <mc:Choice Requires="p14">
      <p:transition spd="slow" p14:dur="2000" advTm="29580"/>
    </mc:Choice>
    <mc:Fallback xmlns="">
      <p:transition spd="slow" advTm="295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250"/>
                                  </p:stCondLst>
                                  <p:childTnLst>
                                    <p:set>
                                      <p:cBhvr>
                                        <p:cTn id="6" dur="1" fill="hold">
                                          <p:stCondLst>
                                            <p:cond delay="0"/>
                                          </p:stCondLst>
                                        </p:cTn>
                                        <p:tgtEl>
                                          <p:spTgt spid="46"/>
                                        </p:tgtEl>
                                        <p:attrNameLst>
                                          <p:attrName>style.visibility</p:attrName>
                                        </p:attrNameLst>
                                      </p:cBhvr>
                                      <p:to>
                                        <p:strVal val="visible"/>
                                      </p:to>
                                    </p:set>
                                    <p:anim calcmode="lin" valueType="num">
                                      <p:cBhvr additive="base">
                                        <p:cTn id="7" dur="500" fill="hold"/>
                                        <p:tgtEl>
                                          <p:spTgt spid="46"/>
                                        </p:tgtEl>
                                        <p:attrNameLst>
                                          <p:attrName>ppt_x</p:attrName>
                                        </p:attrNameLst>
                                      </p:cBhvr>
                                      <p:tavLst>
                                        <p:tav tm="0">
                                          <p:val>
                                            <p:strVal val="#ppt_x"/>
                                          </p:val>
                                        </p:tav>
                                        <p:tav tm="100000">
                                          <p:val>
                                            <p:strVal val="#ppt_x"/>
                                          </p:val>
                                        </p:tav>
                                      </p:tavLst>
                                    </p:anim>
                                    <p:anim calcmode="lin" valueType="num">
                                      <p:cBhvr additive="base">
                                        <p:cTn id="8" dur="500" fill="hold"/>
                                        <p:tgtEl>
                                          <p:spTgt spid="46"/>
                                        </p:tgtEl>
                                        <p:attrNameLst>
                                          <p:attrName>ppt_y</p:attrName>
                                        </p:attrNameLst>
                                      </p:cBhvr>
                                      <p:tavLst>
                                        <p:tav tm="0">
                                          <p:val>
                                            <p:strVal val="1+#ppt_h/2"/>
                                          </p:val>
                                        </p:tav>
                                        <p:tav tm="100000">
                                          <p:val>
                                            <p:strVal val="#ppt_y"/>
                                          </p:val>
                                        </p:tav>
                                      </p:tavLst>
                                    </p:anim>
                                  </p:childTnLst>
                                </p:cTn>
                              </p:par>
                            </p:childTnLst>
                          </p:cTn>
                        </p:par>
                        <p:par>
                          <p:cTn id="9" fill="hold">
                            <p:stCondLst>
                              <p:cond delay="750"/>
                            </p:stCondLst>
                            <p:childTnLst>
                              <p:par>
                                <p:cTn id="10" presetID="2" presetClass="entr" presetSubtype="4" fill="hold" nodeType="afterEffect">
                                  <p:stCondLst>
                                    <p:cond delay="250"/>
                                  </p:stCondLst>
                                  <p:childTnLst>
                                    <p:set>
                                      <p:cBhvr>
                                        <p:cTn id="11" dur="1" fill="hold">
                                          <p:stCondLst>
                                            <p:cond delay="0"/>
                                          </p:stCondLst>
                                        </p:cTn>
                                        <p:tgtEl>
                                          <p:spTgt spid="55"/>
                                        </p:tgtEl>
                                        <p:attrNameLst>
                                          <p:attrName>style.visibility</p:attrName>
                                        </p:attrNameLst>
                                      </p:cBhvr>
                                      <p:to>
                                        <p:strVal val="visible"/>
                                      </p:to>
                                    </p:set>
                                    <p:anim calcmode="lin" valueType="num">
                                      <p:cBhvr additive="base">
                                        <p:cTn id="12" dur="500" fill="hold"/>
                                        <p:tgtEl>
                                          <p:spTgt spid="55"/>
                                        </p:tgtEl>
                                        <p:attrNameLst>
                                          <p:attrName>ppt_x</p:attrName>
                                        </p:attrNameLst>
                                      </p:cBhvr>
                                      <p:tavLst>
                                        <p:tav tm="0">
                                          <p:val>
                                            <p:strVal val="#ppt_x"/>
                                          </p:val>
                                        </p:tav>
                                        <p:tav tm="100000">
                                          <p:val>
                                            <p:strVal val="#ppt_x"/>
                                          </p:val>
                                        </p:tav>
                                      </p:tavLst>
                                    </p:anim>
                                    <p:anim calcmode="lin" valueType="num">
                                      <p:cBhvr additive="base">
                                        <p:cTn id="13" dur="500" fill="hold"/>
                                        <p:tgtEl>
                                          <p:spTgt spid="55"/>
                                        </p:tgtEl>
                                        <p:attrNameLst>
                                          <p:attrName>ppt_y</p:attrName>
                                        </p:attrNameLst>
                                      </p:cBhvr>
                                      <p:tavLst>
                                        <p:tav tm="0">
                                          <p:val>
                                            <p:strVal val="1+#ppt_h/2"/>
                                          </p:val>
                                        </p:tav>
                                        <p:tav tm="100000">
                                          <p:val>
                                            <p:strVal val="#ppt_y"/>
                                          </p:val>
                                        </p:tav>
                                      </p:tavLst>
                                    </p:anim>
                                  </p:childTnLst>
                                </p:cTn>
                              </p:par>
                            </p:childTnLst>
                          </p:cTn>
                        </p:par>
                        <p:par>
                          <p:cTn id="14" fill="hold">
                            <p:stCondLst>
                              <p:cond delay="1500"/>
                            </p:stCondLst>
                            <p:childTnLst>
                              <p:par>
                                <p:cTn id="15" presetID="2" presetClass="entr" presetSubtype="4" fill="hold" nodeType="afterEffect">
                                  <p:stCondLst>
                                    <p:cond delay="250"/>
                                  </p:stCondLst>
                                  <p:childTnLst>
                                    <p:set>
                                      <p:cBhvr>
                                        <p:cTn id="16" dur="1" fill="hold">
                                          <p:stCondLst>
                                            <p:cond delay="0"/>
                                          </p:stCondLst>
                                        </p:cTn>
                                        <p:tgtEl>
                                          <p:spTgt spid="72"/>
                                        </p:tgtEl>
                                        <p:attrNameLst>
                                          <p:attrName>style.visibility</p:attrName>
                                        </p:attrNameLst>
                                      </p:cBhvr>
                                      <p:to>
                                        <p:strVal val="visible"/>
                                      </p:to>
                                    </p:set>
                                    <p:anim calcmode="lin" valueType="num">
                                      <p:cBhvr additive="base">
                                        <p:cTn id="17" dur="500" fill="hold"/>
                                        <p:tgtEl>
                                          <p:spTgt spid="72"/>
                                        </p:tgtEl>
                                        <p:attrNameLst>
                                          <p:attrName>ppt_x</p:attrName>
                                        </p:attrNameLst>
                                      </p:cBhvr>
                                      <p:tavLst>
                                        <p:tav tm="0">
                                          <p:val>
                                            <p:strVal val="#ppt_x"/>
                                          </p:val>
                                        </p:tav>
                                        <p:tav tm="100000">
                                          <p:val>
                                            <p:strVal val="#ppt_x"/>
                                          </p:val>
                                        </p:tav>
                                      </p:tavLst>
                                    </p:anim>
                                    <p:anim calcmode="lin" valueType="num">
                                      <p:cBhvr additive="base">
                                        <p:cTn id="18" dur="500" fill="hold"/>
                                        <p:tgtEl>
                                          <p:spTgt spid="72"/>
                                        </p:tgtEl>
                                        <p:attrNameLst>
                                          <p:attrName>ppt_y</p:attrName>
                                        </p:attrNameLst>
                                      </p:cBhvr>
                                      <p:tavLst>
                                        <p:tav tm="0">
                                          <p:val>
                                            <p:strVal val="1+#ppt_h/2"/>
                                          </p:val>
                                        </p:tav>
                                        <p:tav tm="100000">
                                          <p:val>
                                            <p:strVal val="#ppt_y"/>
                                          </p:val>
                                        </p:tav>
                                      </p:tavLst>
                                    </p:anim>
                                  </p:childTnLst>
                                </p:cTn>
                              </p:par>
                            </p:childTnLst>
                          </p:cTn>
                        </p:par>
                        <p:par>
                          <p:cTn id="19" fill="hold">
                            <p:stCondLst>
                              <p:cond delay="2250"/>
                            </p:stCondLst>
                            <p:childTnLst>
                              <p:par>
                                <p:cTn id="20" presetID="53" presetClass="entr" presetSubtype="16" fill="hold" nodeType="afterEffect">
                                  <p:stCondLst>
                                    <p:cond delay="250"/>
                                  </p:stCondLst>
                                  <p:childTnLst>
                                    <p:set>
                                      <p:cBhvr>
                                        <p:cTn id="21" dur="1" fill="hold">
                                          <p:stCondLst>
                                            <p:cond delay="0"/>
                                          </p:stCondLst>
                                        </p:cTn>
                                        <p:tgtEl>
                                          <p:spTgt spid="82"/>
                                        </p:tgtEl>
                                        <p:attrNameLst>
                                          <p:attrName>style.visibility</p:attrName>
                                        </p:attrNameLst>
                                      </p:cBhvr>
                                      <p:to>
                                        <p:strVal val="visible"/>
                                      </p:to>
                                    </p:set>
                                    <p:anim calcmode="lin" valueType="num">
                                      <p:cBhvr>
                                        <p:cTn id="22" dur="500" fill="hold"/>
                                        <p:tgtEl>
                                          <p:spTgt spid="82"/>
                                        </p:tgtEl>
                                        <p:attrNameLst>
                                          <p:attrName>ppt_w</p:attrName>
                                        </p:attrNameLst>
                                      </p:cBhvr>
                                      <p:tavLst>
                                        <p:tav tm="0">
                                          <p:val>
                                            <p:fltVal val="0"/>
                                          </p:val>
                                        </p:tav>
                                        <p:tav tm="100000">
                                          <p:val>
                                            <p:strVal val="#ppt_w"/>
                                          </p:val>
                                        </p:tav>
                                      </p:tavLst>
                                    </p:anim>
                                    <p:anim calcmode="lin" valueType="num">
                                      <p:cBhvr>
                                        <p:cTn id="23" dur="500" fill="hold"/>
                                        <p:tgtEl>
                                          <p:spTgt spid="82"/>
                                        </p:tgtEl>
                                        <p:attrNameLst>
                                          <p:attrName>ppt_h</p:attrName>
                                        </p:attrNameLst>
                                      </p:cBhvr>
                                      <p:tavLst>
                                        <p:tav tm="0">
                                          <p:val>
                                            <p:fltVal val="0"/>
                                          </p:val>
                                        </p:tav>
                                        <p:tav tm="100000">
                                          <p:val>
                                            <p:strVal val="#ppt_h"/>
                                          </p:val>
                                        </p:tav>
                                      </p:tavLst>
                                    </p:anim>
                                    <p:animEffect transition="in" filter="fade">
                                      <p:cBhvr>
                                        <p:cTn id="24"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hought Bubble: Cloud 8">
            <a:extLst>
              <a:ext uri="{FF2B5EF4-FFF2-40B4-BE49-F238E27FC236}">
                <a16:creationId xmlns:a16="http://schemas.microsoft.com/office/drawing/2014/main" id="{601AAF6A-5DD3-E0A0-DA81-85172EA8AC35}"/>
              </a:ext>
            </a:extLst>
          </p:cNvPr>
          <p:cNvSpPr/>
          <p:nvPr/>
        </p:nvSpPr>
        <p:spPr>
          <a:xfrm>
            <a:off x="6400800" y="5511800"/>
            <a:ext cx="4838700" cy="1193800"/>
          </a:xfrm>
          <a:prstGeom prst="cloudCallou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A"/>
          </a:p>
        </p:txBody>
      </p:sp>
      <p:sp>
        <p:nvSpPr>
          <p:cNvPr id="5" name="TextBox 4">
            <a:extLst>
              <a:ext uri="{FF2B5EF4-FFF2-40B4-BE49-F238E27FC236}">
                <a16:creationId xmlns:a16="http://schemas.microsoft.com/office/drawing/2014/main" id="{66076332-3E5D-F7DD-F043-981A3CD6AD19}"/>
              </a:ext>
            </a:extLst>
          </p:cNvPr>
          <p:cNvSpPr txBox="1"/>
          <p:nvPr/>
        </p:nvSpPr>
        <p:spPr>
          <a:xfrm>
            <a:off x="7594600" y="765698"/>
            <a:ext cx="4416016" cy="4581002"/>
          </a:xfrm>
          <a:prstGeom prst="rect">
            <a:avLst/>
          </a:prstGeom>
          <a:noFill/>
        </p:spPr>
        <p:txBody>
          <a:bodyPr wrap="square">
            <a:spAutoFit/>
          </a:bodyPr>
          <a:lstStyle/>
          <a:p>
            <a:r>
              <a:rPr lang="en-CA" dirty="0"/>
              <a:t>Before AI:                                      With AI:</a:t>
            </a:r>
          </a:p>
          <a:p>
            <a:endParaRPr lang="en-CA" dirty="0"/>
          </a:p>
          <a:p>
            <a:r>
              <a:rPr lang="en-CA" dirty="0"/>
              <a:t> 💡 Idea                                      💡 Idea</a:t>
            </a:r>
          </a:p>
          <a:p>
            <a:r>
              <a:rPr lang="en-CA" dirty="0"/>
              <a:t>        │                                                    │</a:t>
            </a:r>
          </a:p>
          <a:p>
            <a:r>
              <a:rPr lang="en-CA" dirty="0"/>
              <a:t>       ▼                                                  ▼</a:t>
            </a:r>
          </a:p>
          <a:p>
            <a:r>
              <a:rPr lang="en-CA" dirty="0"/>
              <a:t>🔍 Search                                  🤖 Ask AI</a:t>
            </a:r>
          </a:p>
          <a:p>
            <a:r>
              <a:rPr lang="en-CA" dirty="0"/>
              <a:t>        │                                                    │</a:t>
            </a:r>
          </a:p>
          <a:p>
            <a:r>
              <a:rPr lang="en-CA" dirty="0"/>
              <a:t>       ▼                                                  ▼</a:t>
            </a:r>
          </a:p>
          <a:p>
            <a:r>
              <a:rPr lang="en-CA" dirty="0"/>
              <a:t>📚 Documentation              💻 Generate code</a:t>
            </a:r>
          </a:p>
          <a:p>
            <a:r>
              <a:rPr lang="en-CA" dirty="0"/>
              <a:t>         │                                                     │</a:t>
            </a:r>
          </a:p>
          <a:p>
            <a:r>
              <a:rPr lang="en-CA" dirty="0"/>
              <a:t>        ▼                                                   ▼</a:t>
            </a:r>
          </a:p>
          <a:p>
            <a:r>
              <a:rPr lang="en-CA" dirty="0"/>
              <a:t>💬 Stack Overflow                   🔍 Review</a:t>
            </a:r>
          </a:p>
          <a:p>
            <a:r>
              <a:rPr lang="en-CA" dirty="0"/>
              <a:t>         │                                                     │</a:t>
            </a:r>
          </a:p>
          <a:p>
            <a:r>
              <a:rPr lang="en-CA" dirty="0"/>
              <a:t>        ▼                                                   ▼</a:t>
            </a:r>
          </a:p>
          <a:p>
            <a:r>
              <a:rPr lang="en-CA" dirty="0"/>
              <a:t>  ⌨️ Code                                     🚀 Deliver</a:t>
            </a:r>
          </a:p>
        </p:txBody>
      </p:sp>
      <p:sp>
        <p:nvSpPr>
          <p:cNvPr id="6" name="TextBox 5">
            <a:extLst>
              <a:ext uri="{FF2B5EF4-FFF2-40B4-BE49-F238E27FC236}">
                <a16:creationId xmlns:a16="http://schemas.microsoft.com/office/drawing/2014/main" id="{F80DDFD9-4CF1-FA21-428F-259A6327E419}"/>
              </a:ext>
            </a:extLst>
          </p:cNvPr>
          <p:cNvSpPr txBox="1"/>
          <p:nvPr/>
        </p:nvSpPr>
        <p:spPr>
          <a:xfrm>
            <a:off x="6832756" y="5888133"/>
            <a:ext cx="4038444" cy="338554"/>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CA" sz="1600" dirty="0">
                <a:ln w="0"/>
                <a:solidFill>
                  <a:schemeClr val="bg2">
                    <a:lumMod val="25000"/>
                  </a:schemeClr>
                </a:solidFill>
                <a:effectLst>
                  <a:outerShdw blurRad="50800" dist="38100" dir="13500000" algn="br" rotWithShape="0">
                    <a:prstClr val="black">
                      <a:alpha val="40000"/>
                    </a:prstClr>
                  </a:outerShdw>
                </a:effectLst>
                <a:latin typeface="Aptos" panose="020B0004020202020204" pitchFamily="34" charset="0"/>
              </a:rPr>
              <a:t>Less searching → More problem-solving</a:t>
            </a:r>
          </a:p>
        </p:txBody>
      </p:sp>
      <p:sp>
        <p:nvSpPr>
          <p:cNvPr id="8" name="TextBox 7">
            <a:extLst>
              <a:ext uri="{FF2B5EF4-FFF2-40B4-BE49-F238E27FC236}">
                <a16:creationId xmlns:a16="http://schemas.microsoft.com/office/drawing/2014/main" id="{27BBBDB9-0406-0411-6D0F-44F5654475B8}"/>
              </a:ext>
            </a:extLst>
          </p:cNvPr>
          <p:cNvSpPr txBox="1"/>
          <p:nvPr/>
        </p:nvSpPr>
        <p:spPr>
          <a:xfrm>
            <a:off x="483753" y="411639"/>
            <a:ext cx="6702421" cy="743730"/>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a:spAutoFit/>
          </a:bodyPr>
          <a:lstStyle/>
          <a:p>
            <a:pPr>
              <a:lnSpc>
                <a:spcPts val="4950"/>
              </a:lnSpc>
            </a:pPr>
            <a:r>
              <a:rPr lang="en-CA" sz="4400" b="1" dirty="0">
                <a:solidFill>
                  <a:srgbClr val="FF0000"/>
                </a:solidFill>
              </a:rPr>
              <a:t>The Old Way vs. Today</a:t>
            </a:r>
          </a:p>
        </p:txBody>
      </p:sp>
      <p:graphicFrame>
        <p:nvGraphicFramePr>
          <p:cNvPr id="7" name="Table 6">
            <a:extLst>
              <a:ext uri="{FF2B5EF4-FFF2-40B4-BE49-F238E27FC236}">
                <a16:creationId xmlns:a16="http://schemas.microsoft.com/office/drawing/2014/main" id="{0CC33875-1600-4159-565F-558611128F22}"/>
              </a:ext>
            </a:extLst>
          </p:cNvPr>
          <p:cNvGraphicFramePr>
            <a:graphicFrameLocks noGrp="1"/>
          </p:cNvGraphicFramePr>
          <p:nvPr/>
        </p:nvGraphicFramePr>
        <p:xfrm>
          <a:off x="457200" y="1854200"/>
          <a:ext cx="4838700" cy="3848100"/>
        </p:xfrm>
        <a:graphic>
          <a:graphicData uri="http://schemas.openxmlformats.org/drawingml/2006/table">
            <a:tbl>
              <a:tblPr>
                <a:tableStyleId>{00A15C55-8517-42AA-B614-E9B94910E393}</a:tableStyleId>
              </a:tblPr>
              <a:tblGrid>
                <a:gridCol w="2419350">
                  <a:extLst>
                    <a:ext uri="{9D8B030D-6E8A-4147-A177-3AD203B41FA5}">
                      <a16:colId xmlns:a16="http://schemas.microsoft.com/office/drawing/2014/main" val="2921305259"/>
                    </a:ext>
                  </a:extLst>
                </a:gridCol>
                <a:gridCol w="2419350">
                  <a:extLst>
                    <a:ext uri="{9D8B030D-6E8A-4147-A177-3AD203B41FA5}">
                      <a16:colId xmlns:a16="http://schemas.microsoft.com/office/drawing/2014/main" val="4066389080"/>
                    </a:ext>
                  </a:extLst>
                </a:gridCol>
              </a:tblGrid>
              <a:tr h="496529">
                <a:tc>
                  <a:txBody>
                    <a:bodyPr/>
                    <a:lstStyle/>
                    <a:p>
                      <a:pPr>
                        <a:buNone/>
                      </a:pPr>
                      <a:r>
                        <a:rPr lang="en-CA" b="1" dirty="0">
                          <a:solidFill>
                            <a:schemeClr val="tx2">
                              <a:lumMod val="75000"/>
                            </a:schemeClr>
                          </a:solidFill>
                        </a:rPr>
                        <a:t>Tools</a:t>
                      </a:r>
                    </a:p>
                  </a:txBody>
                  <a:tcPr anchor="ctr"/>
                </a:tc>
                <a:tc>
                  <a:txBody>
                    <a:bodyPr/>
                    <a:lstStyle/>
                    <a:p>
                      <a:pPr>
                        <a:buNone/>
                      </a:pPr>
                      <a:r>
                        <a:rPr lang="en-CA" b="1" dirty="0">
                          <a:solidFill>
                            <a:schemeClr val="tx2">
                              <a:lumMod val="75000"/>
                            </a:schemeClr>
                          </a:solidFill>
                        </a:rPr>
                        <a:t>Primary Strength</a:t>
                      </a:r>
                    </a:p>
                  </a:txBody>
                  <a:tcPr anchor="ctr"/>
                </a:tc>
                <a:extLst>
                  <a:ext uri="{0D108BD9-81ED-4DB2-BD59-A6C34878D82A}">
                    <a16:rowId xmlns:a16="http://schemas.microsoft.com/office/drawing/2014/main" val="4254540520"/>
                  </a:ext>
                </a:extLst>
              </a:tr>
              <a:tr h="496529">
                <a:tc>
                  <a:txBody>
                    <a:bodyPr/>
                    <a:lstStyle/>
                    <a:p>
                      <a:pPr>
                        <a:buNone/>
                      </a:pPr>
                      <a:r>
                        <a:rPr lang="en-CA" sz="1200" b="1" dirty="0"/>
                        <a:t>GitHub Copilot</a:t>
                      </a:r>
                      <a:endParaRPr lang="en-CA" sz="1200" dirty="0"/>
                    </a:p>
                  </a:txBody>
                  <a:tcPr anchor="ctr"/>
                </a:tc>
                <a:tc>
                  <a:txBody>
                    <a:bodyPr/>
                    <a:lstStyle/>
                    <a:p>
                      <a:pPr>
                        <a:buNone/>
                      </a:pPr>
                      <a:r>
                        <a:rPr lang="en-CA" sz="1200" dirty="0"/>
                        <a:t>IDE code completion</a:t>
                      </a:r>
                    </a:p>
                  </a:txBody>
                  <a:tcPr anchor="ctr"/>
                </a:tc>
                <a:extLst>
                  <a:ext uri="{0D108BD9-81ED-4DB2-BD59-A6C34878D82A}">
                    <a16:rowId xmlns:a16="http://schemas.microsoft.com/office/drawing/2014/main" val="3869234547"/>
                  </a:ext>
                </a:extLst>
              </a:tr>
              <a:tr h="496529">
                <a:tc>
                  <a:txBody>
                    <a:bodyPr/>
                    <a:lstStyle/>
                    <a:p>
                      <a:pPr>
                        <a:buNone/>
                      </a:pPr>
                      <a:r>
                        <a:rPr lang="en-CA" sz="1200" b="1"/>
                        <a:t>ChatGPT</a:t>
                      </a:r>
                      <a:endParaRPr lang="en-CA" sz="1200"/>
                    </a:p>
                  </a:txBody>
                  <a:tcPr anchor="ctr"/>
                </a:tc>
                <a:tc>
                  <a:txBody>
                    <a:bodyPr/>
                    <a:lstStyle/>
                    <a:p>
                      <a:pPr>
                        <a:buNone/>
                      </a:pPr>
                      <a:r>
                        <a:rPr lang="en-CA" sz="1200" dirty="0"/>
                        <a:t>Reasoning &amp; debugging</a:t>
                      </a:r>
                    </a:p>
                  </a:txBody>
                  <a:tcPr anchor="ctr"/>
                </a:tc>
                <a:extLst>
                  <a:ext uri="{0D108BD9-81ED-4DB2-BD59-A6C34878D82A}">
                    <a16:rowId xmlns:a16="http://schemas.microsoft.com/office/drawing/2014/main" val="1948463463"/>
                  </a:ext>
                </a:extLst>
              </a:tr>
              <a:tr h="496529">
                <a:tc>
                  <a:txBody>
                    <a:bodyPr/>
                    <a:lstStyle/>
                    <a:p>
                      <a:pPr>
                        <a:buNone/>
                      </a:pPr>
                      <a:r>
                        <a:rPr lang="en-CA" sz="1200" b="1"/>
                        <a:t>Cursor</a:t>
                      </a:r>
                      <a:endParaRPr lang="en-CA" sz="1200"/>
                    </a:p>
                  </a:txBody>
                  <a:tcPr anchor="ctr"/>
                </a:tc>
                <a:tc>
                  <a:txBody>
                    <a:bodyPr/>
                    <a:lstStyle/>
                    <a:p>
                      <a:pPr>
                        <a:buNone/>
                      </a:pPr>
                      <a:r>
                        <a:rPr lang="en-CA" sz="1200" dirty="0"/>
                        <a:t>Repository-wide editing</a:t>
                      </a:r>
                    </a:p>
                  </a:txBody>
                  <a:tcPr anchor="ctr"/>
                </a:tc>
                <a:extLst>
                  <a:ext uri="{0D108BD9-81ED-4DB2-BD59-A6C34878D82A}">
                    <a16:rowId xmlns:a16="http://schemas.microsoft.com/office/drawing/2014/main" val="705457849"/>
                  </a:ext>
                </a:extLst>
              </a:tr>
              <a:tr h="868926">
                <a:tc>
                  <a:txBody>
                    <a:bodyPr/>
                    <a:lstStyle/>
                    <a:p>
                      <a:pPr>
                        <a:buNone/>
                      </a:pPr>
                      <a:r>
                        <a:rPr lang="en-CA" sz="1200" b="1"/>
                        <a:t>Claude Code</a:t>
                      </a:r>
                      <a:endParaRPr lang="en-CA" sz="1200"/>
                    </a:p>
                  </a:txBody>
                  <a:tcPr anchor="ctr"/>
                </a:tc>
                <a:tc>
                  <a:txBody>
                    <a:bodyPr/>
                    <a:lstStyle/>
                    <a:p>
                      <a:pPr>
                        <a:buNone/>
                      </a:pPr>
                      <a:r>
                        <a:rPr lang="en-CA" sz="1200" dirty="0"/>
                        <a:t>Long-context &amp; agentic workflows</a:t>
                      </a:r>
                    </a:p>
                  </a:txBody>
                  <a:tcPr anchor="ctr"/>
                </a:tc>
                <a:extLst>
                  <a:ext uri="{0D108BD9-81ED-4DB2-BD59-A6C34878D82A}">
                    <a16:rowId xmlns:a16="http://schemas.microsoft.com/office/drawing/2014/main" val="3768559488"/>
                  </a:ext>
                </a:extLst>
              </a:tr>
              <a:tr h="496529">
                <a:tc>
                  <a:txBody>
                    <a:bodyPr/>
                    <a:lstStyle/>
                    <a:p>
                      <a:pPr>
                        <a:buNone/>
                      </a:pPr>
                      <a:r>
                        <a:rPr lang="en-CA" sz="1200" b="1"/>
                        <a:t>Gemini Code Assist</a:t>
                      </a:r>
                      <a:endParaRPr lang="en-CA" sz="1200"/>
                    </a:p>
                  </a:txBody>
                  <a:tcPr anchor="ctr"/>
                </a:tc>
                <a:tc>
                  <a:txBody>
                    <a:bodyPr/>
                    <a:lstStyle/>
                    <a:p>
                      <a:pPr>
                        <a:buNone/>
                      </a:pPr>
                      <a:r>
                        <a:rPr lang="en-CA" sz="1200" dirty="0"/>
                        <a:t>Google Cloud development</a:t>
                      </a:r>
                    </a:p>
                  </a:txBody>
                  <a:tcPr anchor="ctr"/>
                </a:tc>
                <a:extLst>
                  <a:ext uri="{0D108BD9-81ED-4DB2-BD59-A6C34878D82A}">
                    <a16:rowId xmlns:a16="http://schemas.microsoft.com/office/drawing/2014/main" val="3795163749"/>
                  </a:ext>
                </a:extLst>
              </a:tr>
              <a:tr h="496529">
                <a:tc>
                  <a:txBody>
                    <a:bodyPr/>
                    <a:lstStyle/>
                    <a:p>
                      <a:pPr>
                        <a:buNone/>
                      </a:pPr>
                      <a:r>
                        <a:rPr lang="en-CA" sz="1200" b="1" dirty="0"/>
                        <a:t>Amazon Q Developer</a:t>
                      </a:r>
                      <a:endParaRPr lang="en-CA" sz="1200" dirty="0"/>
                    </a:p>
                  </a:txBody>
                  <a:tcPr anchor="ctr"/>
                </a:tc>
                <a:tc>
                  <a:txBody>
                    <a:bodyPr/>
                    <a:lstStyle/>
                    <a:p>
                      <a:pPr>
                        <a:buNone/>
                      </a:pPr>
                      <a:r>
                        <a:rPr lang="en-CA" sz="1200" dirty="0"/>
                        <a:t>AWS development</a:t>
                      </a:r>
                    </a:p>
                  </a:txBody>
                  <a:tcPr anchor="ctr"/>
                </a:tc>
                <a:extLst>
                  <a:ext uri="{0D108BD9-81ED-4DB2-BD59-A6C34878D82A}">
                    <a16:rowId xmlns:a16="http://schemas.microsoft.com/office/drawing/2014/main" val="362507274"/>
                  </a:ext>
                </a:extLst>
              </a:tr>
            </a:tbl>
          </a:graphicData>
        </a:graphic>
      </p:graphicFrame>
    </p:spTree>
    <p:extLst>
      <p:ext uri="{BB962C8B-B14F-4D97-AF65-F5344CB8AC3E}">
        <p14:creationId xmlns:p14="http://schemas.microsoft.com/office/powerpoint/2010/main" val="3769760781"/>
      </p:ext>
    </p:extLst>
  </p:cSld>
  <p:clrMapOvr>
    <a:masterClrMapping/>
  </p:clrMapOvr>
  <mc:AlternateContent xmlns:mc="http://schemas.openxmlformats.org/markup-compatibility/2006" xmlns:p14="http://schemas.microsoft.com/office/powerpoint/2010/main">
    <mc:Choice Requires="p14">
      <p:transition spd="slow" p14:dur="2000" advTm="17145"/>
    </mc:Choice>
    <mc:Fallback xmlns="">
      <p:transition spd="slow" advTm="1714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33BC5E-A72A-D368-C8D4-E34040144E5D}"/>
              </a:ext>
            </a:extLst>
          </p:cNvPr>
          <p:cNvSpPr txBox="1"/>
          <p:nvPr/>
        </p:nvSpPr>
        <p:spPr>
          <a:xfrm>
            <a:off x="410918" y="329104"/>
            <a:ext cx="11101378" cy="1508105"/>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a:spAutoFit/>
          </a:bodyPr>
          <a:lstStyle/>
          <a:p>
            <a:r>
              <a:rPr lang="en-US" sz="4400" b="1" dirty="0">
                <a:solidFill>
                  <a:srgbClr val="FF0000"/>
                </a:solidFill>
              </a:rPr>
              <a:t>Benefits &amp; Impact of AI Coding Assistants</a:t>
            </a:r>
          </a:p>
          <a:p>
            <a:endParaRPr lang="en-CA" sz="4800" dirty="0">
              <a:solidFill>
                <a:schemeClr val="tx2">
                  <a:lumMod val="75000"/>
                </a:schemeClr>
              </a:solidFill>
              <a:latin typeface="Aptos" panose="020B0004020202020204" pitchFamily="34" charset="0"/>
            </a:endParaRPr>
          </a:p>
        </p:txBody>
      </p:sp>
      <p:sp>
        <p:nvSpPr>
          <p:cNvPr id="7" name="TextBox 6">
            <a:extLst>
              <a:ext uri="{FF2B5EF4-FFF2-40B4-BE49-F238E27FC236}">
                <a16:creationId xmlns:a16="http://schemas.microsoft.com/office/drawing/2014/main" id="{23AEFFDA-4406-9F44-59B0-1EC7A1F1EF6D}"/>
              </a:ext>
            </a:extLst>
          </p:cNvPr>
          <p:cNvSpPr txBox="1"/>
          <p:nvPr/>
        </p:nvSpPr>
        <p:spPr>
          <a:xfrm>
            <a:off x="970497" y="6192018"/>
            <a:ext cx="12192000" cy="338554"/>
          </a:xfrm>
          <a:prstGeom prst="rect">
            <a:avLst/>
          </a:prstGeom>
          <a:noFill/>
        </p:spPr>
        <p:txBody>
          <a:bodyPr wrap="square">
            <a:spAutoFit/>
          </a:bodyPr>
          <a:lstStyle/>
          <a:p>
            <a:r>
              <a:rPr lang="en-CA" sz="1600" dirty="0">
                <a:ln w="0"/>
                <a:solidFill>
                  <a:schemeClr val="bg2">
                    <a:lumMod val="25000"/>
                  </a:schemeClr>
                </a:solidFill>
                <a:effectLst>
                  <a:outerShdw blurRad="50800" dist="38100" dir="13500000" algn="br" rotWithShape="0">
                    <a:prstClr val="black">
                      <a:alpha val="40000"/>
                    </a:prstClr>
                  </a:outerShdw>
                </a:effectLst>
                <a:latin typeface="Aptos" panose="020B0004020202020204" pitchFamily="34" charset="0"/>
              </a:rPr>
              <a:t>"AI acts like a coding partner. It can generate code, explain functions, help debug errors, and even create unit tests."</a:t>
            </a:r>
          </a:p>
        </p:txBody>
      </p:sp>
      <p:sp>
        <p:nvSpPr>
          <p:cNvPr id="4" name="TextBox 3">
            <a:extLst>
              <a:ext uri="{FF2B5EF4-FFF2-40B4-BE49-F238E27FC236}">
                <a16:creationId xmlns:a16="http://schemas.microsoft.com/office/drawing/2014/main" id="{FA606615-49B9-5DE0-57CE-DAFC1FC24A2D}"/>
              </a:ext>
            </a:extLst>
          </p:cNvPr>
          <p:cNvSpPr txBox="1"/>
          <p:nvPr/>
        </p:nvSpPr>
        <p:spPr>
          <a:xfrm>
            <a:off x="193256" y="1389631"/>
            <a:ext cx="11384571" cy="923330"/>
          </a:xfrm>
          <a:prstGeom prst="rect">
            <a:avLst/>
          </a:prstGeom>
          <a:noFill/>
        </p:spPr>
        <p:txBody>
          <a:bodyPr wrap="square" rtlCol="0">
            <a:spAutoFit/>
          </a:bodyPr>
          <a:lstStyle/>
          <a:p>
            <a:r>
              <a:rPr lang="en-US" dirty="0"/>
              <a:t>AI coding assistants have transformed software development by making programming faster, easier, and more efficient. They help developers complete repetitive tasks, improve code quality, and support learning throughout the development process.</a:t>
            </a:r>
          </a:p>
        </p:txBody>
      </p:sp>
      <p:sp>
        <p:nvSpPr>
          <p:cNvPr id="8" name="TextBox 7">
            <a:extLst>
              <a:ext uri="{FF2B5EF4-FFF2-40B4-BE49-F238E27FC236}">
                <a16:creationId xmlns:a16="http://schemas.microsoft.com/office/drawing/2014/main" id="{F32056BF-9D1D-0661-C179-F57666EA779D}"/>
              </a:ext>
            </a:extLst>
          </p:cNvPr>
          <p:cNvSpPr txBox="1"/>
          <p:nvPr/>
        </p:nvSpPr>
        <p:spPr>
          <a:xfrm>
            <a:off x="403569" y="2285171"/>
            <a:ext cx="7006518" cy="646331"/>
          </a:xfrm>
          <a:prstGeom prst="rect">
            <a:avLst/>
          </a:prstGeom>
          <a:noFill/>
        </p:spPr>
        <p:txBody>
          <a:bodyPr wrap="square" rtlCol="0">
            <a:spAutoFit/>
          </a:bodyPr>
          <a:lstStyle/>
          <a:p>
            <a:r>
              <a:rPr lang="en-US" b="1" dirty="0"/>
              <a:t>⚡ Faster Development</a:t>
            </a:r>
          </a:p>
          <a:p>
            <a:r>
              <a:rPr lang="en-US" dirty="0"/>
              <a:t>       Generate code quickly and reduce repetitive coding tasks.</a:t>
            </a:r>
          </a:p>
        </p:txBody>
      </p:sp>
      <p:sp>
        <p:nvSpPr>
          <p:cNvPr id="10" name="TextBox 9">
            <a:extLst>
              <a:ext uri="{FF2B5EF4-FFF2-40B4-BE49-F238E27FC236}">
                <a16:creationId xmlns:a16="http://schemas.microsoft.com/office/drawing/2014/main" id="{A5E02CCF-BF7F-FCB0-B4A8-4B08C6308C84}"/>
              </a:ext>
            </a:extLst>
          </p:cNvPr>
          <p:cNvSpPr txBox="1"/>
          <p:nvPr/>
        </p:nvSpPr>
        <p:spPr>
          <a:xfrm>
            <a:off x="403570" y="3138838"/>
            <a:ext cx="7006517" cy="646331"/>
          </a:xfrm>
          <a:prstGeom prst="rect">
            <a:avLst/>
          </a:prstGeom>
          <a:noFill/>
        </p:spPr>
        <p:txBody>
          <a:bodyPr wrap="square" rtlCol="0">
            <a:spAutoFit/>
          </a:bodyPr>
          <a:lstStyle/>
          <a:p>
            <a:r>
              <a:rPr lang="en-US" b="1" dirty="0"/>
              <a:t>🐞 Smarter Debugging</a:t>
            </a:r>
          </a:p>
          <a:p>
            <a:r>
              <a:rPr lang="en-US" dirty="0"/>
              <a:t>       Identify bugs faster and receive explanations for error messages.</a:t>
            </a:r>
          </a:p>
        </p:txBody>
      </p:sp>
      <p:sp>
        <p:nvSpPr>
          <p:cNvPr id="12" name="TextBox 11">
            <a:extLst>
              <a:ext uri="{FF2B5EF4-FFF2-40B4-BE49-F238E27FC236}">
                <a16:creationId xmlns:a16="http://schemas.microsoft.com/office/drawing/2014/main" id="{018C4F55-EF39-292C-2C95-1A48188627DA}"/>
              </a:ext>
            </a:extLst>
          </p:cNvPr>
          <p:cNvSpPr txBox="1"/>
          <p:nvPr/>
        </p:nvSpPr>
        <p:spPr>
          <a:xfrm>
            <a:off x="407694" y="4016803"/>
            <a:ext cx="10349610" cy="646331"/>
          </a:xfrm>
          <a:prstGeom prst="rect">
            <a:avLst/>
          </a:prstGeom>
          <a:noFill/>
        </p:spPr>
        <p:txBody>
          <a:bodyPr wrap="square" rtlCol="0">
            <a:spAutoFit/>
          </a:bodyPr>
          <a:lstStyle/>
          <a:p>
            <a:r>
              <a:rPr lang="en-US" b="1" dirty="0"/>
              <a:t>📚 Learning Support</a:t>
            </a:r>
          </a:p>
          <a:p>
            <a:r>
              <a:rPr lang="en-US" dirty="0"/>
              <a:t>       Help students and developers understand programming concepts through examples and explanations.</a:t>
            </a:r>
          </a:p>
        </p:txBody>
      </p:sp>
      <p:sp>
        <p:nvSpPr>
          <p:cNvPr id="14" name="TextBox 13">
            <a:extLst>
              <a:ext uri="{FF2B5EF4-FFF2-40B4-BE49-F238E27FC236}">
                <a16:creationId xmlns:a16="http://schemas.microsoft.com/office/drawing/2014/main" id="{E03A1B2F-8F2C-F7EC-0AF5-5A76BD6E3798}"/>
              </a:ext>
            </a:extLst>
          </p:cNvPr>
          <p:cNvSpPr txBox="1"/>
          <p:nvPr/>
        </p:nvSpPr>
        <p:spPr>
          <a:xfrm>
            <a:off x="407694" y="4873978"/>
            <a:ext cx="9755541" cy="646331"/>
          </a:xfrm>
          <a:prstGeom prst="rect">
            <a:avLst/>
          </a:prstGeom>
          <a:noFill/>
        </p:spPr>
        <p:txBody>
          <a:bodyPr wrap="square" rtlCol="0">
            <a:spAutoFit/>
          </a:bodyPr>
          <a:lstStyle/>
          <a:p>
            <a:r>
              <a:rPr lang="en-US" b="1" dirty="0"/>
              <a:t>📝 Automatic Documentation</a:t>
            </a:r>
          </a:p>
          <a:p>
            <a:r>
              <a:rPr lang="en-US" dirty="0"/>
              <a:t>       Generate comments, README files, and documentation automatically.</a:t>
            </a:r>
          </a:p>
        </p:txBody>
      </p:sp>
    </p:spTree>
    <p:extLst>
      <p:ext uri="{BB962C8B-B14F-4D97-AF65-F5344CB8AC3E}">
        <p14:creationId xmlns:p14="http://schemas.microsoft.com/office/powerpoint/2010/main" val="2444755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7F89C85-E155-ADBC-CDA7-5CD16875EFA6}"/>
              </a:ext>
            </a:extLst>
          </p:cNvPr>
          <p:cNvSpPr txBox="1"/>
          <p:nvPr/>
        </p:nvSpPr>
        <p:spPr>
          <a:xfrm>
            <a:off x="750331" y="6473016"/>
            <a:ext cx="12008596" cy="338554"/>
          </a:xfrm>
          <a:prstGeom prst="rect">
            <a:avLst/>
          </a:prstGeom>
          <a:noFill/>
        </p:spPr>
        <p:txBody>
          <a:bodyPr wrap="square">
            <a:spAutoFit/>
          </a:bodyPr>
          <a:lstStyle/>
          <a:p>
            <a:r>
              <a:rPr lang="en-CA" sz="1600" dirty="0">
                <a:ln w="0"/>
                <a:solidFill>
                  <a:schemeClr val="bg2">
                    <a:lumMod val="25000"/>
                  </a:schemeClr>
                </a:solidFill>
                <a:effectLst>
                  <a:outerShdw blurRad="50800" dist="38100" dir="13500000" algn="br" rotWithShape="0">
                    <a:prstClr val="black">
                      <a:alpha val="40000"/>
                    </a:prstClr>
                  </a:outerShdw>
                </a:effectLst>
                <a:latin typeface="Aptos" panose="020B0004020202020204" pitchFamily="34" charset="0"/>
              </a:rPr>
              <a:t>"AI is fast, but it doesn't truly understand your project or your users. Developers still need to review and guide its output."</a:t>
            </a:r>
          </a:p>
        </p:txBody>
      </p:sp>
      <p:sp>
        <p:nvSpPr>
          <p:cNvPr id="4" name="TextBox 3">
            <a:extLst>
              <a:ext uri="{FF2B5EF4-FFF2-40B4-BE49-F238E27FC236}">
                <a16:creationId xmlns:a16="http://schemas.microsoft.com/office/drawing/2014/main" id="{0048091C-27B9-28E8-E46E-F9F0DBEE4F78}"/>
              </a:ext>
            </a:extLst>
          </p:cNvPr>
          <p:cNvSpPr txBox="1"/>
          <p:nvPr/>
        </p:nvSpPr>
        <p:spPr>
          <a:xfrm>
            <a:off x="403569" y="192701"/>
            <a:ext cx="8389911" cy="769441"/>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rtlCol="0">
            <a:spAutoFit/>
          </a:bodyPr>
          <a:lstStyle/>
          <a:p>
            <a:r>
              <a:rPr lang="en-US" sz="4400" b="1" dirty="0">
                <a:solidFill>
                  <a:srgbClr val="FF0000"/>
                </a:solidFill>
              </a:rPr>
              <a:t>Challenges of AI Coding Assistants</a:t>
            </a:r>
          </a:p>
        </p:txBody>
      </p:sp>
      <p:sp>
        <p:nvSpPr>
          <p:cNvPr id="6" name="TextBox 5">
            <a:extLst>
              <a:ext uri="{FF2B5EF4-FFF2-40B4-BE49-F238E27FC236}">
                <a16:creationId xmlns:a16="http://schemas.microsoft.com/office/drawing/2014/main" id="{4ABB2892-9D0D-A363-7138-61663C2F9C0B}"/>
              </a:ext>
            </a:extLst>
          </p:cNvPr>
          <p:cNvSpPr txBox="1"/>
          <p:nvPr/>
        </p:nvSpPr>
        <p:spPr>
          <a:xfrm>
            <a:off x="403568" y="1107686"/>
            <a:ext cx="11384571" cy="646331"/>
          </a:xfrm>
          <a:prstGeom prst="rect">
            <a:avLst/>
          </a:prstGeom>
          <a:noFill/>
        </p:spPr>
        <p:txBody>
          <a:bodyPr wrap="square" rtlCol="0">
            <a:spAutoFit/>
          </a:bodyPr>
          <a:lstStyle/>
          <a:p>
            <a:r>
              <a:rPr lang="en-US" dirty="0"/>
              <a:t>Although AI coding assistants provide many advantages, they also introduce several challenges. Developers should use these tools responsibly and always review AI-generated code before using it in real projects.</a:t>
            </a:r>
          </a:p>
        </p:txBody>
      </p:sp>
      <p:sp>
        <p:nvSpPr>
          <p:cNvPr id="8" name="TextBox 7">
            <a:extLst>
              <a:ext uri="{FF2B5EF4-FFF2-40B4-BE49-F238E27FC236}">
                <a16:creationId xmlns:a16="http://schemas.microsoft.com/office/drawing/2014/main" id="{4300F6D4-D594-6924-41FF-12206CC2CC0F}"/>
              </a:ext>
            </a:extLst>
          </p:cNvPr>
          <p:cNvSpPr txBox="1"/>
          <p:nvPr/>
        </p:nvSpPr>
        <p:spPr>
          <a:xfrm>
            <a:off x="1095265" y="1878775"/>
            <a:ext cx="7006518" cy="646331"/>
          </a:xfrm>
          <a:prstGeom prst="rect">
            <a:avLst/>
          </a:prstGeom>
          <a:noFill/>
        </p:spPr>
        <p:txBody>
          <a:bodyPr wrap="square" rtlCol="0">
            <a:spAutoFit/>
          </a:bodyPr>
          <a:lstStyle/>
          <a:p>
            <a:r>
              <a:rPr lang="en-US" b="1" dirty="0"/>
              <a:t>🔒 Security Risks</a:t>
            </a:r>
          </a:p>
          <a:p>
            <a:r>
              <a:rPr lang="en-US" dirty="0"/>
              <a:t>       AI may generate insecure code or introduce software vulnerabilities.</a:t>
            </a:r>
          </a:p>
        </p:txBody>
      </p:sp>
      <p:sp>
        <p:nvSpPr>
          <p:cNvPr id="10" name="TextBox 9">
            <a:extLst>
              <a:ext uri="{FF2B5EF4-FFF2-40B4-BE49-F238E27FC236}">
                <a16:creationId xmlns:a16="http://schemas.microsoft.com/office/drawing/2014/main" id="{C1A4C089-9408-5042-33FF-BC620B50CC7D}"/>
              </a:ext>
            </a:extLst>
          </p:cNvPr>
          <p:cNvSpPr txBox="1"/>
          <p:nvPr/>
        </p:nvSpPr>
        <p:spPr>
          <a:xfrm>
            <a:off x="1111728" y="2785416"/>
            <a:ext cx="11285803" cy="646331"/>
          </a:xfrm>
          <a:prstGeom prst="rect">
            <a:avLst/>
          </a:prstGeom>
          <a:noFill/>
        </p:spPr>
        <p:txBody>
          <a:bodyPr wrap="square" rtlCol="0">
            <a:spAutoFit/>
          </a:bodyPr>
          <a:lstStyle/>
          <a:p>
            <a:r>
              <a:rPr lang="en-US" b="1" dirty="0"/>
              <a:t>🔐 Privacy Concerns</a:t>
            </a:r>
          </a:p>
          <a:p>
            <a:r>
              <a:rPr lang="en-US" dirty="0"/>
              <a:t>       Sensitive information such as passwords, API keys, and company code should never be shared with public AI tools.</a:t>
            </a:r>
          </a:p>
        </p:txBody>
      </p:sp>
      <p:sp>
        <p:nvSpPr>
          <p:cNvPr id="12" name="TextBox 11">
            <a:extLst>
              <a:ext uri="{FF2B5EF4-FFF2-40B4-BE49-F238E27FC236}">
                <a16:creationId xmlns:a16="http://schemas.microsoft.com/office/drawing/2014/main" id="{77F791E1-DF98-6472-2BA5-617B172AF4D5}"/>
              </a:ext>
            </a:extLst>
          </p:cNvPr>
          <p:cNvSpPr txBox="1"/>
          <p:nvPr/>
        </p:nvSpPr>
        <p:spPr>
          <a:xfrm>
            <a:off x="1095265" y="3686564"/>
            <a:ext cx="10409211" cy="646331"/>
          </a:xfrm>
          <a:prstGeom prst="rect">
            <a:avLst/>
          </a:prstGeom>
          <a:noFill/>
        </p:spPr>
        <p:txBody>
          <a:bodyPr wrap="square" rtlCol="0">
            <a:spAutoFit/>
          </a:bodyPr>
          <a:lstStyle/>
          <a:p>
            <a:r>
              <a:rPr lang="en-US" b="1" dirty="0"/>
              <a:t>📄 Copyright Issues</a:t>
            </a:r>
          </a:p>
          <a:p>
            <a:r>
              <a:rPr lang="en-US" dirty="0"/>
              <a:t>       AI-generated code may create licensing or intellectual property concerns.</a:t>
            </a:r>
          </a:p>
        </p:txBody>
      </p:sp>
      <p:sp>
        <p:nvSpPr>
          <p:cNvPr id="16" name="TextBox 15">
            <a:extLst>
              <a:ext uri="{FF2B5EF4-FFF2-40B4-BE49-F238E27FC236}">
                <a16:creationId xmlns:a16="http://schemas.microsoft.com/office/drawing/2014/main" id="{5DA5A437-BC0C-AD38-3DC9-E2C825255219}"/>
              </a:ext>
            </a:extLst>
          </p:cNvPr>
          <p:cNvSpPr txBox="1"/>
          <p:nvPr/>
        </p:nvSpPr>
        <p:spPr>
          <a:xfrm>
            <a:off x="1095265" y="4544577"/>
            <a:ext cx="7006518" cy="646331"/>
          </a:xfrm>
          <a:prstGeom prst="rect">
            <a:avLst/>
          </a:prstGeom>
          <a:noFill/>
        </p:spPr>
        <p:txBody>
          <a:bodyPr wrap="square" rtlCol="0">
            <a:spAutoFit/>
          </a:bodyPr>
          <a:lstStyle/>
          <a:p>
            <a:r>
              <a:rPr lang="en-US" b="1" dirty="0"/>
              <a:t>❌ Incorrect Code</a:t>
            </a:r>
          </a:p>
          <a:p>
            <a:r>
              <a:rPr lang="en-US" dirty="0"/>
              <a:t>       Generated code is not always correct and must be tested carefully.</a:t>
            </a:r>
          </a:p>
        </p:txBody>
      </p:sp>
      <p:sp>
        <p:nvSpPr>
          <p:cNvPr id="18" name="TextBox 17">
            <a:extLst>
              <a:ext uri="{FF2B5EF4-FFF2-40B4-BE49-F238E27FC236}">
                <a16:creationId xmlns:a16="http://schemas.microsoft.com/office/drawing/2014/main" id="{48927754-ECC1-22F7-3A51-4C96463C2E10}"/>
              </a:ext>
            </a:extLst>
          </p:cNvPr>
          <p:cNvSpPr txBox="1"/>
          <p:nvPr/>
        </p:nvSpPr>
        <p:spPr>
          <a:xfrm>
            <a:off x="1157946" y="5397098"/>
            <a:ext cx="9875813" cy="646331"/>
          </a:xfrm>
          <a:prstGeom prst="rect">
            <a:avLst/>
          </a:prstGeom>
          <a:noFill/>
        </p:spPr>
        <p:txBody>
          <a:bodyPr wrap="square" rtlCol="0">
            <a:spAutoFit/>
          </a:bodyPr>
          <a:lstStyle/>
          <a:p>
            <a:r>
              <a:rPr lang="en-US" b="1" dirty="0"/>
              <a:t>🧠 Developer Overreliance</a:t>
            </a:r>
          </a:p>
          <a:p>
            <a:r>
              <a:rPr lang="en-US" dirty="0"/>
              <a:t>       Depending too much on AI can reduce programming and problem-solving skills.</a:t>
            </a:r>
          </a:p>
        </p:txBody>
      </p:sp>
    </p:spTree>
    <p:extLst>
      <p:ext uri="{BB962C8B-B14F-4D97-AF65-F5344CB8AC3E}">
        <p14:creationId xmlns:p14="http://schemas.microsoft.com/office/powerpoint/2010/main" val="2526746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2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94065CE-A959-BEC2-AA15-151D1FF71326}"/>
              </a:ext>
            </a:extLst>
          </p:cNvPr>
          <p:cNvSpPr txBox="1"/>
          <p:nvPr/>
        </p:nvSpPr>
        <p:spPr>
          <a:xfrm>
            <a:off x="474796" y="6365480"/>
            <a:ext cx="11242407" cy="338554"/>
          </a:xfrm>
          <a:prstGeom prst="rect">
            <a:avLst/>
          </a:prstGeom>
          <a:noFill/>
        </p:spPr>
        <p:txBody>
          <a:bodyPr wrap="square">
            <a:spAutoFit/>
          </a:bodyPr>
          <a:lstStyle/>
          <a:p>
            <a:r>
              <a:rPr lang="en-CA" sz="1600" dirty="0">
                <a:ln w="0"/>
                <a:solidFill>
                  <a:schemeClr val="bg2">
                    <a:lumMod val="25000"/>
                  </a:schemeClr>
                </a:solidFill>
                <a:effectLst>
                  <a:outerShdw blurRad="50800" dist="38100" dir="13500000" algn="br" rotWithShape="0">
                    <a:prstClr val="black">
                      <a:alpha val="40000"/>
                    </a:prstClr>
                  </a:outerShdw>
                </a:effectLst>
                <a:latin typeface="Aptos" panose="020B0004020202020204" pitchFamily="34" charset="0"/>
              </a:rPr>
              <a:t>"The future isn't AI replacing developers. It's developers who know how to work effectively with AI becoming more productive.“</a:t>
            </a:r>
          </a:p>
        </p:txBody>
      </p:sp>
      <p:sp>
        <p:nvSpPr>
          <p:cNvPr id="8" name="TextBox 7">
            <a:extLst>
              <a:ext uri="{FF2B5EF4-FFF2-40B4-BE49-F238E27FC236}">
                <a16:creationId xmlns:a16="http://schemas.microsoft.com/office/drawing/2014/main" id="{CF9EAC55-9D12-D955-F9F3-372730018FE4}"/>
              </a:ext>
            </a:extLst>
          </p:cNvPr>
          <p:cNvSpPr txBox="1"/>
          <p:nvPr/>
        </p:nvSpPr>
        <p:spPr>
          <a:xfrm>
            <a:off x="403569" y="258216"/>
            <a:ext cx="8389911" cy="769441"/>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rtlCol="0">
            <a:spAutoFit/>
          </a:bodyPr>
          <a:lstStyle/>
          <a:p>
            <a:r>
              <a:rPr lang="en-US" sz="4400" b="1" dirty="0">
                <a:solidFill>
                  <a:srgbClr val="FF0000"/>
                </a:solidFill>
              </a:rPr>
              <a:t>Real-World Industry Adoption</a:t>
            </a:r>
          </a:p>
        </p:txBody>
      </p:sp>
      <p:sp>
        <p:nvSpPr>
          <p:cNvPr id="10" name="TextBox 9">
            <a:extLst>
              <a:ext uri="{FF2B5EF4-FFF2-40B4-BE49-F238E27FC236}">
                <a16:creationId xmlns:a16="http://schemas.microsoft.com/office/drawing/2014/main" id="{2DE6D51C-BF92-0C5E-BFF3-983DBC0CBDCE}"/>
              </a:ext>
            </a:extLst>
          </p:cNvPr>
          <p:cNvSpPr txBox="1"/>
          <p:nvPr/>
        </p:nvSpPr>
        <p:spPr>
          <a:xfrm>
            <a:off x="403568" y="1107686"/>
            <a:ext cx="11384571" cy="646331"/>
          </a:xfrm>
          <a:prstGeom prst="rect">
            <a:avLst/>
          </a:prstGeom>
          <a:noFill/>
        </p:spPr>
        <p:txBody>
          <a:bodyPr wrap="square" rtlCol="0">
            <a:spAutoFit/>
          </a:bodyPr>
          <a:lstStyle/>
          <a:p>
            <a:r>
              <a:rPr lang="en-US" dirty="0"/>
              <a:t>Today, AI coding assistants are widely used across different industries. From startups to large technology companies, these tools help developers build software faster, improve code quality, and increase overall productivity.</a:t>
            </a:r>
          </a:p>
        </p:txBody>
      </p:sp>
      <p:sp>
        <p:nvSpPr>
          <p:cNvPr id="13" name="TextBox 12">
            <a:extLst>
              <a:ext uri="{FF2B5EF4-FFF2-40B4-BE49-F238E27FC236}">
                <a16:creationId xmlns:a16="http://schemas.microsoft.com/office/drawing/2014/main" id="{B020BBF6-2C2B-3FAE-006C-DB8DA2D23DBE}"/>
              </a:ext>
            </a:extLst>
          </p:cNvPr>
          <p:cNvSpPr txBox="1"/>
          <p:nvPr/>
        </p:nvSpPr>
        <p:spPr>
          <a:xfrm>
            <a:off x="495006" y="2140881"/>
            <a:ext cx="9807233" cy="646331"/>
          </a:xfrm>
          <a:prstGeom prst="rect">
            <a:avLst/>
          </a:prstGeom>
          <a:noFill/>
        </p:spPr>
        <p:txBody>
          <a:bodyPr wrap="square" rtlCol="0">
            <a:spAutoFit/>
          </a:bodyPr>
          <a:lstStyle/>
          <a:p>
            <a:r>
              <a:rPr lang="en-US" b="1" dirty="0"/>
              <a:t>🚀 Startup Development</a:t>
            </a:r>
          </a:p>
          <a:p>
            <a:r>
              <a:rPr lang="en-US" dirty="0"/>
              <a:t>       AI helps startups build Minimum Viable Products (MVPs) more quickly and with fewer resources.</a:t>
            </a:r>
          </a:p>
        </p:txBody>
      </p:sp>
      <p:sp>
        <p:nvSpPr>
          <p:cNvPr id="15" name="TextBox 14">
            <a:extLst>
              <a:ext uri="{FF2B5EF4-FFF2-40B4-BE49-F238E27FC236}">
                <a16:creationId xmlns:a16="http://schemas.microsoft.com/office/drawing/2014/main" id="{03974F4F-DB6F-4712-D269-3854D304447C}"/>
              </a:ext>
            </a:extLst>
          </p:cNvPr>
          <p:cNvSpPr txBox="1"/>
          <p:nvPr/>
        </p:nvSpPr>
        <p:spPr>
          <a:xfrm>
            <a:off x="495006" y="3211024"/>
            <a:ext cx="10553993" cy="646331"/>
          </a:xfrm>
          <a:prstGeom prst="rect">
            <a:avLst/>
          </a:prstGeom>
          <a:noFill/>
        </p:spPr>
        <p:txBody>
          <a:bodyPr wrap="square" rtlCol="0">
            <a:spAutoFit/>
          </a:bodyPr>
          <a:lstStyle/>
          <a:p>
            <a:r>
              <a:rPr lang="en-US" b="1" dirty="0"/>
              <a:t>🏢 Enterprise Development</a:t>
            </a:r>
          </a:p>
          <a:p>
            <a:r>
              <a:rPr lang="en-US" dirty="0"/>
              <a:t>       Large companies use AI for code reviews, debugging, documentation, and maintaining complex codebases.</a:t>
            </a:r>
          </a:p>
        </p:txBody>
      </p:sp>
      <p:sp>
        <p:nvSpPr>
          <p:cNvPr id="17" name="TextBox 16">
            <a:extLst>
              <a:ext uri="{FF2B5EF4-FFF2-40B4-BE49-F238E27FC236}">
                <a16:creationId xmlns:a16="http://schemas.microsoft.com/office/drawing/2014/main" id="{C1245293-1947-599C-E9D6-744805B954F9}"/>
              </a:ext>
            </a:extLst>
          </p:cNvPr>
          <p:cNvSpPr txBox="1"/>
          <p:nvPr/>
        </p:nvSpPr>
        <p:spPr>
          <a:xfrm>
            <a:off x="495006" y="4281167"/>
            <a:ext cx="10553993" cy="646331"/>
          </a:xfrm>
          <a:prstGeom prst="rect">
            <a:avLst/>
          </a:prstGeom>
          <a:noFill/>
        </p:spPr>
        <p:txBody>
          <a:bodyPr wrap="square" rtlCol="0">
            <a:spAutoFit/>
          </a:bodyPr>
          <a:lstStyle/>
          <a:p>
            <a:r>
              <a:rPr lang="en-US" b="1" dirty="0"/>
              <a:t>🌍 Open Source Projects</a:t>
            </a:r>
          </a:p>
          <a:p>
            <a:r>
              <a:rPr lang="en-US" dirty="0"/>
              <a:t>       AI supports contributors by suggesting bug fixes, improving documentation, and generating pull requests.</a:t>
            </a:r>
          </a:p>
        </p:txBody>
      </p:sp>
      <p:sp>
        <p:nvSpPr>
          <p:cNvPr id="19" name="TextBox 18">
            <a:extLst>
              <a:ext uri="{FF2B5EF4-FFF2-40B4-BE49-F238E27FC236}">
                <a16:creationId xmlns:a16="http://schemas.microsoft.com/office/drawing/2014/main" id="{71291818-851C-7358-1E66-8F58B4FD0706}"/>
              </a:ext>
            </a:extLst>
          </p:cNvPr>
          <p:cNvSpPr txBox="1"/>
          <p:nvPr/>
        </p:nvSpPr>
        <p:spPr>
          <a:xfrm>
            <a:off x="495006" y="5276150"/>
            <a:ext cx="10104413" cy="646331"/>
          </a:xfrm>
          <a:prstGeom prst="rect">
            <a:avLst/>
          </a:prstGeom>
          <a:noFill/>
        </p:spPr>
        <p:txBody>
          <a:bodyPr wrap="square" rtlCol="0">
            <a:spAutoFit/>
          </a:bodyPr>
          <a:lstStyle/>
          <a:p>
            <a:r>
              <a:rPr lang="en-US" b="1" dirty="0"/>
              <a:t>🔄 Legacy Software Modernization</a:t>
            </a:r>
          </a:p>
          <a:p>
            <a:r>
              <a:rPr lang="en-US" dirty="0"/>
              <a:t>       Organizations use AI to understand, refactor, and modernize older software systems.</a:t>
            </a:r>
          </a:p>
        </p:txBody>
      </p:sp>
    </p:spTree>
    <p:extLst>
      <p:ext uri="{BB962C8B-B14F-4D97-AF65-F5344CB8AC3E}">
        <p14:creationId xmlns:p14="http://schemas.microsoft.com/office/powerpoint/2010/main" val="4221627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FDA5196-4830-3385-AD7E-5BB2811D8A3C}"/>
              </a:ext>
            </a:extLst>
          </p:cNvPr>
          <p:cNvSpPr txBox="1"/>
          <p:nvPr/>
        </p:nvSpPr>
        <p:spPr>
          <a:xfrm>
            <a:off x="578358" y="464380"/>
            <a:ext cx="10732770" cy="707886"/>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a:spAutoFit/>
          </a:bodyPr>
          <a:lstStyle/>
          <a:p>
            <a:pPr indent="0" algn="l" latinLnBrk="0">
              <a:buNone/>
            </a:pPr>
            <a:r>
              <a:rPr lang="en-CA" sz="2000" b="1" dirty="0">
                <a:solidFill>
                  <a:srgbClr val="FF0000"/>
                </a:solidFill>
              </a:rPr>
              <a:t>As AI coding assistants become more powerful, should future software developers focus less on writing code and more on designing, reviewing, and managing AI-generated solutions?</a:t>
            </a:r>
          </a:p>
        </p:txBody>
      </p:sp>
      <p:sp>
        <p:nvSpPr>
          <p:cNvPr id="5" name="TextBox 4">
            <a:extLst>
              <a:ext uri="{FF2B5EF4-FFF2-40B4-BE49-F238E27FC236}">
                <a16:creationId xmlns:a16="http://schemas.microsoft.com/office/drawing/2014/main" id="{4FAC0878-CDAB-43C2-8F9D-5186F816AA03}"/>
              </a:ext>
            </a:extLst>
          </p:cNvPr>
          <p:cNvSpPr txBox="1"/>
          <p:nvPr/>
        </p:nvSpPr>
        <p:spPr>
          <a:xfrm>
            <a:off x="2215134" y="2467094"/>
            <a:ext cx="7559802" cy="369332"/>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a:spAutoFit/>
          </a:bodyPr>
          <a:lstStyle/>
          <a:p>
            <a:r>
              <a:rPr lang="en-CA" dirty="0">
                <a:solidFill>
                  <a:schemeClr val="bg2">
                    <a:lumMod val="25000"/>
                  </a:schemeClr>
                </a:solidFill>
                <a:latin typeface="+mj-lt"/>
              </a:rPr>
              <a:t>Thank you for your attention!</a:t>
            </a:r>
          </a:p>
        </p:txBody>
      </p:sp>
      <p:pic>
        <p:nvPicPr>
          <p:cNvPr id="7" name="Video 6" title="Cogs turning inside head outline">
            <a:hlinkClick r:id="" action="ppaction://media"/>
            <a:extLst>
              <a:ext uri="{FF2B5EF4-FFF2-40B4-BE49-F238E27FC236}">
                <a16:creationId xmlns:a16="http://schemas.microsoft.com/office/drawing/2014/main" id="{4A42F797-0479-1120-50F8-747608F4C922}"/>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6757415" y="1682282"/>
            <a:ext cx="5082159" cy="2858714"/>
          </a:xfrm>
          <a:prstGeom prst="rect">
            <a:avLst/>
          </a:prstGeom>
        </p:spPr>
      </p:pic>
    </p:spTree>
    <p:extLst>
      <p:ext uri="{BB962C8B-B14F-4D97-AF65-F5344CB8AC3E}">
        <p14:creationId xmlns:p14="http://schemas.microsoft.com/office/powerpoint/2010/main" val="3545903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250"/>
                                  </p:stCondLst>
                                  <p:childTnLst>
                                    <p:cmd type="call" cmd="playFrom(0.0)">
                                      <p:cBhvr>
                                        <p:cTn id="6" dur="12034" fill="hold"/>
                                        <p:tgtEl>
                                          <p:spTgt spid="7"/>
                                        </p:tgtEl>
                                      </p:cBhvr>
                                    </p:cmd>
                                  </p:childTnLst>
                                </p:cTn>
                              </p:par>
                              <p:par>
                                <p:cTn id="7" presetID="42" presetClass="entr" presetSubtype="0" fill="hold" grpId="0" nodeType="withEffect">
                                  <p:stCondLst>
                                    <p:cond delay="25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1000"/>
                                        <p:tgtEl>
                                          <p:spTgt spid="3"/>
                                        </p:tgtEl>
                                      </p:cBhvr>
                                    </p:animEffect>
                                    <p:anim calcmode="lin" valueType="num">
                                      <p:cBhvr>
                                        <p:cTn id="10" dur="1000" fill="hold"/>
                                        <p:tgtEl>
                                          <p:spTgt spid="3"/>
                                        </p:tgtEl>
                                        <p:attrNameLst>
                                          <p:attrName>ppt_x</p:attrName>
                                        </p:attrNameLst>
                                      </p:cBhvr>
                                      <p:tavLst>
                                        <p:tav tm="0">
                                          <p:val>
                                            <p:strVal val="#ppt_x"/>
                                          </p:val>
                                        </p:tav>
                                        <p:tav tm="100000">
                                          <p:val>
                                            <p:strVal val="#ppt_x"/>
                                          </p:val>
                                        </p:tav>
                                      </p:tavLst>
                                    </p:anim>
                                    <p:anim calcmode="lin" valueType="num">
                                      <p:cBhvr>
                                        <p:cTn id="11" dur="1000" fill="hold"/>
                                        <p:tgtEl>
                                          <p:spTgt spid="3"/>
                                        </p:tgtEl>
                                        <p:attrNameLst>
                                          <p:attrName>ppt_y</p:attrName>
                                        </p:attrNameLst>
                                      </p:cBhvr>
                                      <p:tavLst>
                                        <p:tav tm="0">
                                          <p:val>
                                            <p:strVal val="#ppt_y+.1"/>
                                          </p:val>
                                        </p:tav>
                                        <p:tav tm="100000">
                                          <p:val>
                                            <p:strVal val="#ppt_y"/>
                                          </p:val>
                                        </p:tav>
                                      </p:tavLst>
                                    </p:anim>
                                  </p:childTnLst>
                                </p:cTn>
                              </p:par>
                              <p:par>
                                <p:cTn id="12" presetID="42" presetClass="entr" presetSubtype="0" fill="hold" grpId="0" nodeType="withEffect">
                                  <p:stCondLst>
                                    <p:cond delay="50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17" repeatCount="indefinite" fill="hold" display="0">
                  <p:stCondLst>
                    <p:cond delay="indefinite"/>
                  </p:stCondLst>
                </p:cTn>
                <p:tgtEl>
                  <p:spTgt spid="7"/>
                </p:tgtEl>
              </p:cMediaNode>
            </p:video>
            <p:seq concurrent="1" nextAc="seek">
              <p:cTn id="18" restart="whenNotActive" fill="hold" evtFilter="cancelBubble" nodeType="interactiveSeq">
                <p:stCondLst>
                  <p:cond evt="onClick" delay="0">
                    <p:tgtEl>
                      <p:spTgt spid="7"/>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withEffect">
                                  <p:stCondLst>
                                    <p:cond delay="250"/>
                                  </p:stCondLst>
                                  <p:childTnLst>
                                    <p:cmd type="call" cmd="togglePause">
                                      <p:cBhvr>
                                        <p:cTn id="22" dur="1" fill="hold"/>
                                        <p:tgtEl>
                                          <p:spTgt spid="7"/>
                                        </p:tgtEl>
                                      </p:cBhvr>
                                    </p:cmd>
                                  </p:childTnLst>
                                </p:cTn>
                              </p:par>
                            </p:childTnLst>
                          </p:cTn>
                        </p:par>
                      </p:childTnLst>
                    </p:cTn>
                  </p:par>
                </p:childTnLst>
              </p:cTn>
              <p:nextCondLst>
                <p:cond evt="onClick" delay="0">
                  <p:tgtEl>
                    <p:spTgt spid="7"/>
                  </p:tgtEl>
                </p:cond>
              </p:nextCondLst>
            </p:seq>
          </p:childTnLst>
        </p:cTn>
      </p:par>
    </p:tnLst>
    <p:bldLst>
      <p:bldP spid="3" grpId="0"/>
      <p:bldP spid="5"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742</Words>
  <Application>Microsoft Office PowerPoint</Application>
  <PresentationFormat>Widescreen</PresentationFormat>
  <Paragraphs>112</Paragraphs>
  <Slides>8</Slides>
  <Notes>4</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vt:i4>
      </vt:variant>
    </vt:vector>
  </HeadingPairs>
  <TitlesOfParts>
    <vt:vector size="17" baseType="lpstr">
      <vt:lpstr>Abadi</vt:lpstr>
      <vt:lpstr>Aptos</vt:lpstr>
      <vt:lpstr>Aptos Display</vt:lpstr>
      <vt:lpstr>Arial</vt:lpstr>
      <vt:lpstr>Inter</vt:lpstr>
      <vt:lpstr>Inter Medium</vt:lpstr>
      <vt:lpstr>Inter SemiBold</vt:lpstr>
      <vt:lpstr>Poppins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Shima Vosoogh</dc:creator>
  <cp:lastModifiedBy>Shima Vosoogh</cp:lastModifiedBy>
  <cp:revision>1</cp:revision>
  <dcterms:created xsi:type="dcterms:W3CDTF">2026-08-05T21:15:50Z</dcterms:created>
  <dcterms:modified xsi:type="dcterms:W3CDTF">2026-08-05T21:17:25Z</dcterms:modified>
</cp:coreProperties>
</file>